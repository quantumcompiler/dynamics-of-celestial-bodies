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media1.mov" ContentType="video/unknown"/>
  <Override PartName="/ppt/media/media2.mov" ContentType="video/unknown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lack and white photo of light and shadows on a buildin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Black and white photo of shadows cast on a concrete structure"/>
          <p:cNvSpPr/>
          <p:nvPr>
            <p:ph type="pic" idx="21"/>
          </p:nvPr>
        </p:nvSpPr>
        <p:spPr>
          <a:xfrm>
            <a:off x="9270652" y="1263650"/>
            <a:ext cx="16757661" cy="1118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Close-up black and white photo of intricate building architecture"/>
          <p:cNvSpPr/>
          <p:nvPr>
            <p:ph type="pic" idx="22"/>
          </p:nvPr>
        </p:nvSpPr>
        <p:spPr>
          <a:xfrm>
            <a:off x="12192000" y="-1341967"/>
            <a:ext cx="10922000" cy="16399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 angle black and white photo of a futuristic apartment building under a cloudy sky"/>
          <p:cNvSpPr/>
          <p:nvPr>
            <p:ph type="pic" idx="21"/>
          </p:nvPr>
        </p:nvSpPr>
        <p:spPr>
          <a:xfrm>
            <a:off x="-120802" y="1270000"/>
            <a:ext cx="16840201" cy="1122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lack and white photo of the outside of a modern office building "/>
          <p:cNvSpPr/>
          <p:nvPr>
            <p:ph type="pic" sz="quarter" idx="22"/>
          </p:nvPr>
        </p:nvSpPr>
        <p:spPr>
          <a:xfrm>
            <a:off x="15443200" y="1270000"/>
            <a:ext cx="81026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lack and white photo of lattice-like, modern architecture on a building"/>
          <p:cNvSpPr/>
          <p:nvPr>
            <p:ph type="pic" sz="half" idx="23"/>
          </p:nvPr>
        </p:nvSpPr>
        <p:spPr>
          <a:xfrm>
            <a:off x="15811500" y="4876800"/>
            <a:ext cx="7366000" cy="982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 angle black and white photo of a modern buildin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video" Target="../media/media1.mov"/><Relationship Id="rId3" Type="http://schemas.microsoft.com/office/2007/relationships/media" Target="../media/media1.mov"/><Relationship Id="rId4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video" Target="../media/media2.mov"/><Relationship Id="rId3" Type="http://schemas.microsoft.com/office/2007/relationships/media" Target="../media/media2.mov"/><Relationship Id="rId4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1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jpe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jpe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7.jpe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8.jpe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9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0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9.jpe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hyperlink" Target="https://github.com/QuantumCompiler/Dynamics-Of-Celestial-Bodies" TargetMode="External"/><Relationship Id="rId3" Type="http://schemas.openxmlformats.org/officeDocument/2006/relationships/hyperlink" Target="https://github.com/maciejczarnacki/PINNs-projectile-motion" TargetMode="External"/><Relationship Id="rId4" Type="http://schemas.openxmlformats.org/officeDocument/2006/relationships/hyperlink" Target="https://www.kaggle.com/" TargetMode="External"/><Relationship Id="rId5" Type="http://schemas.openxmlformats.org/officeDocument/2006/relationships/hyperlink" Target="https://www.sciencedirect.com/science/article/abs/pii/S0021999118307125" TargetMode="Externa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aylor Larrechea - March 12, 20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Taylor Larrechea - March 12, 2026</a:t>
            </a:r>
          </a:p>
        </p:txBody>
      </p:sp>
      <p:sp>
        <p:nvSpPr>
          <p:cNvPr id="172" name="Dynamics Of Celestial Bodie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Dynamics Of Celestial Bodies</a:t>
            </a:r>
          </a:p>
        </p:txBody>
      </p:sp>
      <p:sp>
        <p:nvSpPr>
          <p:cNvPr id="173" name="Numerical Solutions With C++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Numerical Solutions With C++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bout Me"/>
          <p:cNvSpPr txBox="1"/>
          <p:nvPr/>
        </p:nvSpPr>
        <p:spPr>
          <a:xfrm>
            <a:off x="9616782" y="948252"/>
            <a:ext cx="5150435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8600"/>
            </a:lvl1pPr>
          </a:lstStyle>
          <a:p>
            <a:pPr/>
            <a:r>
              <a:t>About Me</a:t>
            </a:r>
          </a:p>
        </p:txBody>
      </p:sp>
      <p:sp>
        <p:nvSpPr>
          <p:cNvPr id="176" name="Academic…"/>
          <p:cNvSpPr txBox="1"/>
          <p:nvPr/>
        </p:nvSpPr>
        <p:spPr>
          <a:xfrm>
            <a:off x="1322025" y="2749301"/>
            <a:ext cx="21739950" cy="990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4200"/>
            </a:pPr>
            <a:r>
              <a:t>Academic</a:t>
            </a:r>
          </a:p>
          <a:p>
            <a:pPr marL="609599" indent="-609599">
              <a:buSzPct val="123000"/>
              <a:buChar char="•"/>
              <a:defRPr sz="4200"/>
            </a:pPr>
            <a:r>
              <a:t>Graduated from CMU with B.S in Physics and Minor in Mathematics in 2020</a:t>
            </a:r>
          </a:p>
          <a:p>
            <a:pPr marL="609599" indent="-609599">
              <a:buSzPct val="123000"/>
              <a:buChar char="•"/>
              <a:defRPr sz="4200"/>
            </a:pPr>
            <a:r>
              <a:t>Attended graduate school at The University of Oklahoma from 2021 to 2022</a:t>
            </a:r>
          </a:p>
          <a:p>
            <a:pPr marL="609599" indent="-609599">
              <a:buSzPct val="123000"/>
              <a:buChar char="•"/>
              <a:defRPr sz="4200"/>
            </a:pPr>
            <a:r>
              <a:t>Graduated from CU Boulder with B.S in Computer Science in 2024</a:t>
            </a:r>
          </a:p>
          <a:p>
            <a:pPr marL="609599" indent="-609599">
              <a:buSzPct val="123000"/>
              <a:buChar char="•"/>
              <a:defRPr sz="4200"/>
            </a:pPr>
            <a:r>
              <a:t>Published paper to APS with Dr. David Collins in December 2025</a:t>
            </a:r>
          </a:p>
          <a:p>
            <a:pPr>
              <a:defRPr b="1" sz="4200"/>
            </a:pPr>
            <a:r>
              <a:t>Professional</a:t>
            </a:r>
          </a:p>
          <a:p>
            <a:pPr marL="609599" indent="-609599">
              <a:buSzPct val="123000"/>
              <a:buChar char="•"/>
              <a:defRPr sz="4200"/>
            </a:pPr>
            <a:r>
              <a:t>Formulation Scientist at Mesa Lavender Farms from June 2020 to February 2021</a:t>
            </a:r>
          </a:p>
          <a:p>
            <a:pPr marL="609599" indent="-609599">
              <a:buSzPct val="123000"/>
              <a:buChar char="•"/>
              <a:defRPr sz="4200"/>
            </a:pPr>
            <a:r>
              <a:t>Customer Engineer at Applied Materials from October 2022 to May 2025</a:t>
            </a:r>
          </a:p>
          <a:p>
            <a:pPr marL="609599" indent="-609599">
              <a:buSzPct val="123000"/>
              <a:buChar char="•"/>
              <a:defRPr sz="4200"/>
            </a:pPr>
            <a:r>
              <a:t>Junior iOS Engineer as contractor at Vivint from June 2025 - Present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Agenda"/>
          <p:cNvSpPr txBox="1"/>
          <p:nvPr/>
        </p:nvSpPr>
        <p:spPr>
          <a:xfrm>
            <a:off x="10142677" y="926105"/>
            <a:ext cx="4098646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Agenda</a:t>
            </a:r>
          </a:p>
        </p:txBody>
      </p:sp>
      <p:sp>
        <p:nvSpPr>
          <p:cNvPr id="179" name="Background Of Project…"/>
          <p:cNvSpPr txBox="1"/>
          <p:nvPr/>
        </p:nvSpPr>
        <p:spPr>
          <a:xfrm>
            <a:off x="1322025" y="2723813"/>
            <a:ext cx="21739950" cy="8825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777875" indent="-777875">
              <a:buSzPct val="100000"/>
              <a:buAutoNum type="arabicPeriod" startAt="1"/>
              <a:defRPr b="1" sz="4200"/>
            </a:pPr>
            <a:r>
              <a:t>Background Of Project</a:t>
            </a:r>
          </a:p>
          <a:p>
            <a:pPr marL="777875" indent="-777875">
              <a:buSzPct val="100000"/>
              <a:buAutoNum type="arabicPeriod" startAt="1"/>
              <a:defRPr b="1" sz="4200"/>
            </a:pPr>
            <a:r>
              <a:t>Motivation For Refactoring</a:t>
            </a:r>
          </a:p>
          <a:p>
            <a:pPr marL="777875" indent="-777875">
              <a:buSzPct val="100000"/>
              <a:buAutoNum type="arabicPeriod" startAt="1"/>
              <a:defRPr b="1" sz="4200"/>
            </a:pPr>
            <a:r>
              <a:t>The Math</a:t>
            </a:r>
          </a:p>
          <a:p>
            <a:pPr marL="777875" indent="-777875">
              <a:buSzPct val="100000"/>
              <a:buAutoNum type="arabicPeriod" startAt="1"/>
              <a:defRPr b="1" sz="4200"/>
            </a:pPr>
            <a:r>
              <a:t>The Physics</a:t>
            </a:r>
          </a:p>
          <a:p>
            <a:pPr marL="777875" indent="-777875">
              <a:buSzPct val="100000"/>
              <a:buAutoNum type="arabicPeriod" startAt="1"/>
              <a:defRPr b="1" sz="4200"/>
            </a:pPr>
            <a:r>
              <a:t>Refactored Results</a:t>
            </a:r>
          </a:p>
          <a:p>
            <a:pPr marL="777875" indent="-777875">
              <a:buSzPct val="100000"/>
              <a:buAutoNum type="arabicPeriod" startAt="1"/>
              <a:defRPr b="1" sz="4200"/>
            </a:pPr>
            <a:r>
              <a:t>Physics Informed Neural Network</a:t>
            </a:r>
          </a:p>
          <a:p>
            <a:pPr marL="777875" indent="-777875">
              <a:buSzPct val="100000"/>
              <a:buAutoNum type="arabicPeriod" startAt="1"/>
              <a:defRPr b="1" sz="4200"/>
            </a:pPr>
            <a:r>
              <a:t>Conclusions</a:t>
            </a:r>
          </a:p>
          <a:p>
            <a:pPr marL="777875" indent="-777875">
              <a:buSzPct val="100000"/>
              <a:buAutoNum type="arabicPeriod" startAt="1"/>
              <a:defRPr b="1" sz="4200"/>
            </a:pPr>
            <a:r>
              <a:t>Questions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Background Of Proj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Background Of Project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dvanced Dynamics - Fall Semester Of 2018…"/>
          <p:cNvSpPr txBox="1"/>
          <p:nvPr/>
        </p:nvSpPr>
        <p:spPr>
          <a:xfrm>
            <a:off x="1322025" y="1329721"/>
            <a:ext cx="21739950" cy="1105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4200"/>
            </a:pPr>
            <a:r>
              <a:t>Advanced Dynamics - Fall Semester Of 2018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Completed basic implementation of numerical solver with FEDS numerical method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Presented results in Fall Semester of 2019 at CMU</a:t>
            </a:r>
          </a:p>
          <a:p>
            <a:pPr>
              <a:defRPr b="1" sz="4200"/>
            </a:pPr>
            <a:r>
              <a:t>GUI Implementation With RK4 - Fall Semester Of 2023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Created graphical user interface with RK4 solver </a:t>
            </a:r>
          </a:p>
          <a:p>
            <a:pPr>
              <a:defRPr b="1" sz="4200"/>
            </a:pPr>
            <a:r>
              <a:t>C++ Implementation With RK4 - November 2025 to March 2026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Refactored numerical solvers to be in C++ instead of Python</a:t>
            </a:r>
          </a:p>
          <a:p>
            <a:pPr lvl="1" marL="1143000" indent="-533400">
              <a:buSzPct val="123000"/>
              <a:buChar char="•"/>
              <a:defRPr sz="4200"/>
            </a:pPr>
            <a:r>
              <a:t>With persistent data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Created N-Body for (hypothetically) infinite number of bodies in system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Created framework for Machine Learning model training from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Motivation For Refactor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Motivation For Refactoring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Initial Refactoring…"/>
          <p:cNvSpPr txBox="1"/>
          <p:nvPr/>
        </p:nvSpPr>
        <p:spPr>
          <a:xfrm>
            <a:off x="1322025" y="1054708"/>
            <a:ext cx="21739950" cy="11606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4200"/>
            </a:pPr>
            <a:r>
              <a:t>Initial Refactoring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The Forward Euler Difference Scheme (FEDS) requires a very small time step</a:t>
            </a:r>
          </a:p>
          <a:p>
            <a:pPr lvl="1" marL="1143000" indent="-533400">
              <a:buSzPct val="123000"/>
              <a:buChar char="•"/>
              <a:defRPr sz="4200"/>
            </a:pPr>
            <a:r>
              <a:t>This can lead to very long computation times due to small time steps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The Runge Kutta 4 (RK4) numerical method can take in a smaller time step </a:t>
            </a:r>
          </a:p>
          <a:p>
            <a:pPr lvl="1" marL="1143000" indent="-533400">
              <a:buSzPct val="123000"/>
              <a:buChar char="•"/>
              <a:defRPr sz="4200"/>
            </a:pPr>
            <a:r>
              <a:t>This leads to less computation time and faster solution times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Python is very, very slow compared to a compiled language like C++</a:t>
            </a:r>
          </a:p>
          <a:p>
            <a:pPr lvl="1" marL="1143000" indent="-533400">
              <a:buSzPct val="123000"/>
              <a:buChar char="•"/>
              <a:defRPr sz="4200"/>
            </a:pPr>
            <a:r>
              <a:t>Interpreted language : Writing a book report page by page , Compiled language : Writing a book report after reading the entire book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Persistent data production to be able to review previous computations</a:t>
            </a:r>
          </a:p>
          <a:p>
            <a:pPr lvl="1" marL="1143000" indent="-533400">
              <a:buSzPct val="123000"/>
              <a:buChar char="•"/>
              <a:defRPr sz="4200"/>
            </a:pPr>
            <a:r>
              <a:t>Previous implementations did not have the ability to review previous computations</a:t>
            </a:r>
          </a:p>
          <a:p>
            <a:pPr marL="533400" indent="-533400">
              <a:buSzPct val="123000"/>
              <a:buChar char="•"/>
              <a:defRPr sz="4200"/>
            </a:pPr>
            <a:r>
              <a:t>Fast and large data production for ML model training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Let’s Play A Gam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Let’s Play A Game</a:t>
            </a:r>
          </a:p>
        </p:txBody>
      </p:sp>
      <p:sp>
        <p:nvSpPr>
          <p:cNvPr id="190" name="Python vs. C++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Python vs. C++</a:t>
            </a:r>
          </a:p>
        </p:txBody>
      </p:sp>
      <p:sp>
        <p:nvSpPr>
          <p:cNvPr id="191" name="Two applications written that count to 1 billion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Two applications written that count to 1 billion</a:t>
            </a:r>
          </a:p>
          <a:p>
            <a:pPr/>
            <a:r>
              <a:t>One in Python</a:t>
            </a:r>
          </a:p>
          <a:p>
            <a:pPr/>
            <a:r>
              <a:t>One in C++</a:t>
            </a:r>
          </a:p>
        </p:txBody>
      </p:sp>
      <p:pic>
        <p:nvPicPr>
          <p:cNvPr id="192" name="Cyanide And Happiness Python.png" descr="Cyanide And Happiness Python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1" t="0" r="1" b="0"/>
          <a:stretch>
            <a:fillRect/>
          </a:stretch>
        </p:blipFill>
        <p:spPr>
          <a:xfrm>
            <a:off x="12192000" y="1263650"/>
            <a:ext cx="10922000" cy="111887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Algorithms Of Each Language"/>
          <p:cNvSpPr txBox="1"/>
          <p:nvPr/>
        </p:nvSpPr>
        <p:spPr>
          <a:xfrm>
            <a:off x="4349102" y="926105"/>
            <a:ext cx="15685796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Algorithms Of Each Language</a:t>
            </a:r>
          </a:p>
        </p:txBody>
      </p:sp>
      <p:sp>
        <p:nvSpPr>
          <p:cNvPr id="195" name="def count_to(n: int, progress_every: int = 50_000_000) -&gt; float:…"/>
          <p:cNvSpPr txBox="1"/>
          <p:nvPr/>
        </p:nvSpPr>
        <p:spPr>
          <a:xfrm>
            <a:off x="5406330" y="2919685"/>
            <a:ext cx="13571340" cy="102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C8E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79B8FF"/>
                </a:solidFill>
              </a:rPr>
              <a:t>def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5B1"/>
                </a:solidFill>
              </a:rPr>
              <a:t>count_to</a:t>
            </a:r>
            <a:r>
              <a:rPr>
                <a:solidFill>
                  <a:srgbClr val="E1E4E8"/>
                </a:solidFill>
              </a:rPr>
              <a:t>(</a:t>
            </a:r>
            <a:r>
              <a:t>n</a:t>
            </a:r>
            <a:r>
              <a:rPr>
                <a:solidFill>
                  <a:srgbClr val="E1E4E8"/>
                </a:solidFill>
              </a:rPr>
              <a:t>: </a:t>
            </a:r>
            <a:r>
              <a:rPr>
                <a:solidFill>
                  <a:srgbClr val="4EC9B0"/>
                </a:solidFill>
              </a:rPr>
              <a:t>int</a:t>
            </a:r>
            <a:r>
              <a:rPr>
                <a:solidFill>
                  <a:srgbClr val="E1E4E8"/>
                </a:solidFill>
              </a:rPr>
              <a:t>, </a:t>
            </a:r>
            <a:r>
              <a:t>progress_every</a:t>
            </a:r>
            <a:r>
              <a:rPr>
                <a:solidFill>
                  <a:srgbClr val="E1E4E8"/>
                </a:solidFill>
              </a:rPr>
              <a:t>: </a:t>
            </a:r>
            <a:r>
              <a:rPr>
                <a:solidFill>
                  <a:srgbClr val="4EC9B0"/>
                </a:solidFill>
              </a:rPr>
              <a:t>int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85E89D"/>
                </a:solidFill>
              </a:rPr>
              <a:t>50_000_000</a:t>
            </a:r>
            <a:r>
              <a:rPr>
                <a:solidFill>
                  <a:srgbClr val="E1E4E8"/>
                </a:solidFill>
              </a:rPr>
              <a:t>) -&gt; </a:t>
            </a:r>
            <a:r>
              <a:rPr>
                <a:solidFill>
                  <a:srgbClr val="4EC9B0"/>
                </a:solidFill>
              </a:rPr>
              <a:t>float</a:t>
            </a:r>
            <a:r>
              <a:rPr>
                <a:solidFill>
                  <a:srgbClr val="E1E4E8"/>
                </a:solidFill>
              </a:rPr>
              <a:t>: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start </a:t>
            </a:r>
            <a:r>
              <a:rPr>
                <a:solidFill>
                  <a:srgbClr val="FFFFFF"/>
                </a:solidFill>
              </a:rPr>
              <a:t>=</a:t>
            </a:r>
            <a:r>
              <a:t> time.perf_counter()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i </a:t>
            </a:r>
            <a:r>
              <a:rPr>
                <a:solidFill>
                  <a:srgbClr val="FFFFFF"/>
                </a:solidFill>
              </a:rPr>
              <a:t>=</a:t>
            </a:r>
            <a:r>
              <a:t> </a:t>
            </a:r>
            <a:r>
              <a:rPr>
                <a:solidFill>
                  <a:srgbClr val="85E89D"/>
                </a:solidFill>
              </a:rPr>
              <a:t>0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D2A8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</a:t>
            </a:r>
            <a:r>
              <a:t>while</a:t>
            </a:r>
            <a:r>
              <a:rPr>
                <a:solidFill>
                  <a:srgbClr val="E1E4E8"/>
                </a:solidFill>
              </a:rPr>
              <a:t> i 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E1E4E8"/>
                </a:solidFill>
              </a:rPr>
              <a:t> n: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i </a:t>
            </a:r>
            <a:r>
              <a:rPr>
                <a:solidFill>
                  <a:srgbClr val="FFFFFF"/>
                </a:solidFill>
              </a:rPr>
              <a:t>+=</a:t>
            </a:r>
            <a:r>
              <a:t> </a:t>
            </a:r>
            <a:r>
              <a:rPr>
                <a:solidFill>
                  <a:srgbClr val="85E89D"/>
                </a:solidFill>
              </a:rPr>
              <a:t>1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D2A8FF"/>
                </a:solidFill>
              </a:rPr>
              <a:t>if</a:t>
            </a:r>
            <a:r>
              <a:t> progress_every </a:t>
            </a:r>
            <a:r>
              <a:rPr>
                <a:solidFill>
                  <a:srgbClr val="79B8FF"/>
                </a:solidFill>
              </a:rPr>
              <a:t>and</a:t>
            </a:r>
            <a:r>
              <a:t> (i </a:t>
            </a:r>
            <a:r>
              <a:rPr>
                <a:solidFill>
                  <a:srgbClr val="FFFFFF"/>
                </a:solidFill>
              </a:rPr>
              <a:t>%</a:t>
            </a:r>
            <a:r>
              <a:t> progress_every </a:t>
            </a:r>
            <a:r>
              <a:rPr>
                <a:solidFill>
                  <a:srgbClr val="FFFFFF"/>
                </a:solidFill>
              </a:rPr>
              <a:t>==</a:t>
            </a:r>
            <a:r>
              <a:t> </a:t>
            </a:r>
            <a:r>
              <a:rPr>
                <a:solidFill>
                  <a:srgbClr val="85E89D"/>
                </a:solidFill>
              </a:rPr>
              <a:t>0</a:t>
            </a:r>
            <a:r>
              <a:t>):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elapsed </a:t>
            </a:r>
            <a:r>
              <a:rPr>
                <a:solidFill>
                  <a:srgbClr val="FFFFFF"/>
                </a:solidFill>
              </a:rPr>
              <a:t>=</a:t>
            </a:r>
            <a:r>
              <a:t> time.perf_counter() </a:t>
            </a:r>
            <a:r>
              <a:rPr>
                <a:solidFill>
                  <a:srgbClr val="FFFFFF"/>
                </a:solidFill>
              </a:rPr>
              <a:t>-</a:t>
            </a:r>
            <a:r>
              <a:t> start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FFF5B1"/>
                </a:solidFill>
              </a:rPr>
              <a:t>print</a:t>
            </a:r>
            <a:r>
              <a:t>(</a:t>
            </a:r>
            <a:r>
              <a:rPr>
                <a:solidFill>
                  <a:srgbClr val="79B8FF"/>
                </a:solidFill>
              </a:rPr>
              <a:t>f</a:t>
            </a:r>
            <a:r>
              <a:rPr>
                <a:solidFill>
                  <a:srgbClr val="FFAC70"/>
                </a:solidFill>
              </a:rPr>
              <a:t>"Reached </a:t>
            </a:r>
            <a:r>
              <a:rPr>
                <a:solidFill>
                  <a:srgbClr val="79B8FF"/>
                </a:solidFill>
              </a:rPr>
              <a:t>{</a:t>
            </a:r>
            <a:r>
              <a:t>i</a:t>
            </a:r>
            <a:r>
              <a:rPr>
                <a:solidFill>
                  <a:srgbClr val="79B8FF"/>
                </a:solidFill>
              </a:rPr>
              <a:t>:,}</a:t>
            </a:r>
            <a:r>
              <a:rPr>
                <a:solidFill>
                  <a:srgbClr val="FFAC70"/>
                </a:solidFill>
              </a:rPr>
              <a:t> / </a:t>
            </a:r>
            <a:r>
              <a:rPr>
                <a:solidFill>
                  <a:srgbClr val="79B8FF"/>
                </a:solidFill>
              </a:rPr>
              <a:t>{</a:t>
            </a:r>
            <a:r>
              <a:t>n</a:t>
            </a:r>
            <a:r>
              <a:rPr>
                <a:solidFill>
                  <a:srgbClr val="79B8FF"/>
                </a:solidFill>
              </a:rPr>
              <a:t>:,}</a:t>
            </a:r>
            <a:r>
              <a:rPr>
                <a:solidFill>
                  <a:srgbClr val="FFAC70"/>
                </a:solidFill>
              </a:rPr>
              <a:t>  (elapsed: </a:t>
            </a:r>
            <a:r>
              <a:rPr>
                <a:solidFill>
                  <a:srgbClr val="79B8FF"/>
                </a:solidFill>
              </a:rPr>
              <a:t>{</a:t>
            </a:r>
            <a:r>
              <a:t>elapsed</a:t>
            </a:r>
            <a:r>
              <a:rPr>
                <a:solidFill>
                  <a:srgbClr val="79B8FF"/>
                </a:solidFill>
              </a:rPr>
              <a:t>:.2f}</a:t>
            </a:r>
            <a:r>
              <a:rPr>
                <a:solidFill>
                  <a:srgbClr val="FFAC70"/>
                </a:solidFill>
              </a:rPr>
              <a:t>s)"</a:t>
            </a:r>
            <a: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sys.stdout.flush()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end </a:t>
            </a:r>
            <a:r>
              <a:rPr>
                <a:solidFill>
                  <a:srgbClr val="FFFFFF"/>
                </a:solidFill>
              </a:rPr>
              <a:t>=</a:t>
            </a:r>
            <a:r>
              <a:t> time.perf_counter()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D2A8FF"/>
                </a:solidFill>
              </a:rPr>
              <a:t>return</a:t>
            </a:r>
            <a:r>
              <a:t> end </a:t>
            </a:r>
            <a:r>
              <a:rPr>
                <a:solidFill>
                  <a:srgbClr val="FFFFFF"/>
                </a:solidFill>
              </a:rPr>
              <a:t>-</a:t>
            </a:r>
            <a:r>
              <a:t> start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C8E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79B8FF"/>
                </a:solidFill>
              </a:rPr>
              <a:t>double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5B1"/>
                </a:solidFill>
              </a:rPr>
              <a:t>count_to</a:t>
            </a:r>
            <a:r>
              <a:rPr>
                <a:solidFill>
                  <a:srgbClr val="E1E4E8"/>
                </a:solidFill>
              </a:rPr>
              <a:t>(</a:t>
            </a:r>
            <a:r>
              <a:rPr>
                <a:solidFill>
                  <a:srgbClr val="4EC9B0"/>
                </a:solidFill>
              </a:rPr>
              <a:t>std</a:t>
            </a:r>
            <a:r>
              <a:rPr>
                <a:solidFill>
                  <a:srgbClr val="E1E4E8"/>
                </a:solidFill>
              </a:rPr>
              <a:t>::</a:t>
            </a:r>
            <a:r>
              <a:rPr>
                <a:solidFill>
                  <a:srgbClr val="4EC9B0"/>
                </a:solidFill>
              </a:rPr>
              <a:t>uint64_t</a:t>
            </a:r>
            <a:r>
              <a:rPr>
                <a:solidFill>
                  <a:srgbClr val="E1E4E8"/>
                </a:solidFill>
              </a:rPr>
              <a:t> </a:t>
            </a:r>
            <a:r>
              <a:t>n</a:t>
            </a:r>
            <a:r>
              <a:rPr>
                <a:solidFill>
                  <a:srgbClr val="E1E4E8"/>
                </a:solidFill>
              </a:rPr>
              <a:t>, </a:t>
            </a:r>
            <a:r>
              <a:rPr>
                <a:solidFill>
                  <a:srgbClr val="4EC9B0"/>
                </a:solidFill>
              </a:rPr>
              <a:t>std</a:t>
            </a:r>
            <a:r>
              <a:rPr>
                <a:solidFill>
                  <a:srgbClr val="E1E4E8"/>
                </a:solidFill>
              </a:rPr>
              <a:t>::</a:t>
            </a:r>
            <a:r>
              <a:rPr>
                <a:solidFill>
                  <a:srgbClr val="4EC9B0"/>
                </a:solidFill>
              </a:rPr>
              <a:t>uint64_t</a:t>
            </a:r>
            <a:r>
              <a:rPr>
                <a:solidFill>
                  <a:srgbClr val="E1E4E8"/>
                </a:solidFill>
              </a:rPr>
              <a:t> </a:t>
            </a:r>
            <a:r>
              <a:t>progress_every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85E89D"/>
                </a:solidFill>
              </a:rPr>
              <a:t>50'000'000ULL</a:t>
            </a:r>
            <a:r>
              <a:rPr>
                <a:solidFill>
                  <a:srgbClr val="E1E4E8"/>
                </a:solidFill>
              </a:rPr>
              <a:t>) {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4EC9B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</a:t>
            </a:r>
            <a:r>
              <a:rPr>
                <a:solidFill>
                  <a:srgbClr val="D2A8FF"/>
                </a:solidFill>
              </a:rPr>
              <a:t>using</a:t>
            </a:r>
            <a:r>
              <a:rPr>
                <a:solidFill>
                  <a:srgbClr val="E1E4E8"/>
                </a:solidFill>
              </a:rPr>
              <a:t> </a:t>
            </a:r>
            <a:r>
              <a:t>clock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E1E4E8"/>
                </a:solidFill>
              </a:rPr>
              <a:t> </a:t>
            </a:r>
            <a:r>
              <a:t>std</a:t>
            </a:r>
            <a:r>
              <a:rPr>
                <a:solidFill>
                  <a:srgbClr val="E1E4E8"/>
                </a:solidFill>
              </a:rPr>
              <a:t>::</a:t>
            </a:r>
            <a:r>
              <a:t>chrono</a:t>
            </a:r>
            <a:r>
              <a:rPr>
                <a:solidFill>
                  <a:srgbClr val="E1E4E8"/>
                </a:solidFill>
              </a:rPr>
              <a:t>::</a:t>
            </a:r>
            <a:r>
              <a:t>steady_clock</a:t>
            </a:r>
            <a:r>
              <a:rPr>
                <a:solidFill>
                  <a:srgbClr val="E1E4E8"/>
                </a:solidFill>
              </a:rPr>
              <a:t>;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79B8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</a:t>
            </a:r>
            <a:r>
              <a:t>const</a:t>
            </a:r>
            <a:r>
              <a:rPr>
                <a:solidFill>
                  <a:srgbClr val="E1E4E8"/>
                </a:solidFill>
              </a:rPr>
              <a:t> </a:t>
            </a:r>
            <a:r>
              <a:t>auto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C8E1FF"/>
                </a:solidFill>
              </a:rPr>
              <a:t>start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4EC9B0"/>
                </a:solidFill>
              </a:rPr>
              <a:t>clock</a:t>
            </a:r>
            <a:r>
              <a:rPr>
                <a:solidFill>
                  <a:srgbClr val="E1E4E8"/>
                </a:solidFill>
              </a:rPr>
              <a:t>::</a:t>
            </a:r>
            <a:r>
              <a:rPr>
                <a:solidFill>
                  <a:srgbClr val="FFF5B1"/>
                </a:solidFill>
              </a:rPr>
              <a:t>now</a:t>
            </a:r>
            <a:r>
              <a:rPr>
                <a:solidFill>
                  <a:srgbClr val="E1E4E8"/>
                </a:solidFill>
              </a:rPr>
              <a:t>();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4EC9B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</a:t>
            </a:r>
            <a:r>
              <a:t>std</a:t>
            </a:r>
            <a:r>
              <a:rPr>
                <a:solidFill>
                  <a:srgbClr val="E1E4E8"/>
                </a:solidFill>
              </a:rPr>
              <a:t>::</a:t>
            </a:r>
            <a:r>
              <a:t>uint64_t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C8E1FF"/>
                </a:solidFill>
              </a:rPr>
              <a:t>i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85E89D"/>
                </a:solidFill>
              </a:rPr>
              <a:t>0</a:t>
            </a:r>
            <a:r>
              <a:rPr>
                <a:solidFill>
                  <a:srgbClr val="E1E4E8"/>
                </a:solidFill>
              </a:rPr>
              <a:t>;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D2A8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</a:t>
            </a:r>
            <a:r>
              <a:t>while</a:t>
            </a:r>
            <a:r>
              <a:rPr>
                <a:solidFill>
                  <a:srgbClr val="E1E4E8"/>
                </a:solidFill>
              </a:rPr>
              <a:t> (</a:t>
            </a:r>
            <a:r>
              <a:rPr>
                <a:solidFill>
                  <a:srgbClr val="C8E1FF"/>
                </a:solidFill>
              </a:rPr>
              <a:t>i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C8E1FF"/>
                </a:solidFill>
              </a:rPr>
              <a:t>n</a:t>
            </a:r>
            <a:r>
              <a:rPr>
                <a:solidFill>
                  <a:srgbClr val="E1E4E8"/>
                </a:solidFill>
              </a:rPr>
              <a:t>) {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>
                <a:solidFill>
                  <a:srgbClr val="FFFFFF"/>
                </a:solidFill>
              </a:rPr>
              <a:t>++</a:t>
            </a:r>
            <a:r>
              <a:rPr>
                <a:solidFill>
                  <a:srgbClr val="C8E1FF"/>
                </a:solidFill>
              </a:rPr>
              <a:t>i</a:t>
            </a:r>
            <a: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C8E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    </a:t>
            </a:r>
            <a:r>
              <a:rPr>
                <a:solidFill>
                  <a:srgbClr val="D2A8FF"/>
                </a:solidFill>
              </a:rPr>
              <a:t>if</a:t>
            </a:r>
            <a:r>
              <a:rPr>
                <a:solidFill>
                  <a:srgbClr val="E1E4E8"/>
                </a:solidFill>
              </a:rPr>
              <a:t> (</a:t>
            </a:r>
            <a:r>
              <a:t>progress_every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&amp;&amp;</a:t>
            </a:r>
            <a:r>
              <a:rPr>
                <a:solidFill>
                  <a:srgbClr val="E1E4E8"/>
                </a:solidFill>
              </a:rPr>
              <a:t> (</a:t>
            </a:r>
            <a:r>
              <a:t>i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%</a:t>
            </a:r>
            <a:r>
              <a:rPr>
                <a:solidFill>
                  <a:srgbClr val="E1E4E8"/>
                </a:solidFill>
              </a:rPr>
              <a:t> </a:t>
            </a:r>
            <a:r>
              <a:t>progress_every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==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85E89D"/>
                </a:solidFill>
              </a:rPr>
              <a:t>0</a:t>
            </a:r>
            <a:r>
              <a:rPr>
                <a:solidFill>
                  <a:srgbClr val="E1E4E8"/>
                </a:solidFill>
              </a:rPr>
              <a:t>)) {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79B8FF"/>
                </a:solidFill>
              </a:rPr>
              <a:t>const</a:t>
            </a:r>
            <a:r>
              <a:t> </a:t>
            </a:r>
            <a:r>
              <a:rPr>
                <a:solidFill>
                  <a:srgbClr val="79B8FF"/>
                </a:solidFill>
              </a:rPr>
              <a:t>auto</a:t>
            </a:r>
            <a:r>
              <a:t> </a:t>
            </a:r>
            <a:r>
              <a:rPr>
                <a:solidFill>
                  <a:srgbClr val="C8E1FF"/>
                </a:solidFill>
              </a:rPr>
              <a:t>now</a:t>
            </a:r>
            <a: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t> </a:t>
            </a:r>
            <a:r>
              <a:rPr>
                <a:solidFill>
                  <a:srgbClr val="4EC9B0"/>
                </a:solidFill>
              </a:rPr>
              <a:t>clock</a:t>
            </a:r>
            <a:r>
              <a:t>::</a:t>
            </a:r>
            <a:r>
              <a:rPr>
                <a:solidFill>
                  <a:srgbClr val="FFF5B1"/>
                </a:solidFill>
              </a:rPr>
              <a:t>now</a:t>
            </a:r>
            <a:r>
              <a:t>();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79B8FF"/>
                </a:solidFill>
              </a:rPr>
              <a:t>const</a:t>
            </a:r>
            <a:r>
              <a:t> </a:t>
            </a:r>
            <a:r>
              <a:rPr>
                <a:solidFill>
                  <a:srgbClr val="4EC9B0"/>
                </a:solidFill>
              </a:rPr>
              <a:t>std</a:t>
            </a:r>
            <a:r>
              <a:t>::</a:t>
            </a:r>
            <a:r>
              <a:rPr>
                <a:solidFill>
                  <a:srgbClr val="4EC9B0"/>
                </a:solidFill>
              </a:rPr>
              <a:t>chrono</a:t>
            </a:r>
            <a:r>
              <a:t>::</a:t>
            </a:r>
            <a:r>
              <a:rPr>
                <a:solidFill>
                  <a:srgbClr val="4EC9B0"/>
                </a:solidFill>
              </a:rPr>
              <a:t>duration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79B8FF"/>
                </a:solidFill>
              </a:rPr>
              <a:t>double</a:t>
            </a:r>
            <a:r>
              <a:rPr>
                <a:solidFill>
                  <a:srgbClr val="FFFFFF"/>
                </a:solidFill>
              </a:rPr>
              <a:t>&gt;</a:t>
            </a:r>
            <a:r>
              <a:t> </a:t>
            </a:r>
            <a:r>
              <a:rPr>
                <a:solidFill>
                  <a:srgbClr val="C8E1FF"/>
                </a:solidFill>
              </a:rPr>
              <a:t>elapsed</a:t>
            </a:r>
            <a: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t> </a:t>
            </a:r>
            <a:r>
              <a:rPr>
                <a:solidFill>
                  <a:srgbClr val="C8E1FF"/>
                </a:solidFill>
              </a:rPr>
              <a:t>now</a:t>
            </a:r>
            <a:r>
              <a:t> </a:t>
            </a:r>
            <a:r>
              <a:rPr>
                <a:solidFill>
                  <a:srgbClr val="FFF5B1"/>
                </a:solidFill>
              </a:rPr>
              <a:t>-</a:t>
            </a:r>
            <a:r>
              <a:t> </a:t>
            </a:r>
            <a:r>
              <a:rPr>
                <a:solidFill>
                  <a:srgbClr val="C8E1FF"/>
                </a:solidFill>
              </a:rPr>
              <a:t>start</a:t>
            </a:r>
            <a: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4EC9B0"/>
                </a:solidFill>
              </a:rPr>
              <a:t>std</a:t>
            </a:r>
            <a:r>
              <a:t>::</a:t>
            </a:r>
            <a:r>
              <a:rPr>
                <a:solidFill>
                  <a:srgbClr val="C8E1FF"/>
                </a:solidFill>
              </a:rPr>
              <a:t>cout</a:t>
            </a:r>
            <a:r>
              <a:t>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FFAC70"/>
                </a:solidFill>
              </a:rPr>
              <a:t>"Reached "</a:t>
            </a:r>
            <a:r>
              <a:t>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C8E1FF"/>
                </a:solidFill>
              </a:rPr>
              <a:t>i</a:t>
            </a:r>
            <a:r>
              <a:t>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FFAC70"/>
                </a:solidFill>
              </a:rPr>
              <a:t>" / "</a:t>
            </a:r>
            <a:r>
              <a:t>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C8E1FF"/>
                </a:solidFill>
              </a:rPr>
              <a:t>n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   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FFAC70"/>
                </a:solidFill>
              </a:rPr>
              <a:t>"  (elapsed: "</a:t>
            </a:r>
            <a:r>
              <a:t>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4EC9B0"/>
                </a:solidFill>
              </a:rPr>
              <a:t>std</a:t>
            </a:r>
            <a:r>
              <a:t>::</a:t>
            </a:r>
            <a:r>
              <a:rPr>
                <a:solidFill>
                  <a:srgbClr val="FFF5B1"/>
                </a:solidFill>
              </a:rPr>
              <a:t>fixed</a:t>
            </a:r>
            <a:r>
              <a:t>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4EC9B0"/>
                </a:solidFill>
              </a:rPr>
              <a:t>std</a:t>
            </a:r>
            <a:r>
              <a:t>::</a:t>
            </a:r>
            <a:r>
              <a:rPr>
                <a:solidFill>
                  <a:srgbClr val="FFF5B1"/>
                </a:solidFill>
              </a:rPr>
              <a:t>setprecision</a:t>
            </a:r>
            <a:r>
              <a:t>(</a:t>
            </a:r>
            <a:r>
              <a:rPr>
                <a:solidFill>
                  <a:srgbClr val="85E89D"/>
                </a:solidFill>
              </a:rPr>
              <a:t>2</a:t>
            </a:r>
            <a:r>
              <a:t>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   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C8E1FF"/>
                </a:solidFill>
              </a:rPr>
              <a:t>elapsed</a:t>
            </a:r>
            <a:r>
              <a:t>.</a:t>
            </a:r>
            <a:r>
              <a:rPr>
                <a:solidFill>
                  <a:srgbClr val="FFF5B1"/>
                </a:solidFill>
              </a:rPr>
              <a:t>count</a:t>
            </a:r>
            <a:r>
              <a:t>() </a:t>
            </a:r>
            <a:r>
              <a:rPr>
                <a:solidFill>
                  <a:srgbClr val="FFF5B1"/>
                </a:solidFill>
              </a:rPr>
              <a:t>&lt;&lt;</a:t>
            </a:r>
            <a:r>
              <a:t> </a:t>
            </a:r>
            <a:r>
              <a:rPr>
                <a:solidFill>
                  <a:srgbClr val="FFAC70"/>
                </a:solidFill>
              </a:rPr>
              <a:t>"s)</a:t>
            </a:r>
            <a:r>
              <a:rPr>
                <a:solidFill>
                  <a:srgbClr val="79B8FF"/>
                </a:solidFill>
              </a:rPr>
              <a:t>\n</a:t>
            </a:r>
            <a:r>
              <a:rPr>
                <a:solidFill>
                  <a:srgbClr val="FFAC70"/>
                </a:solidFill>
              </a:rPr>
              <a:t>"</a:t>
            </a:r>
            <a: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>
                <a:solidFill>
                  <a:srgbClr val="4EC9B0"/>
                </a:solidFill>
              </a:rPr>
              <a:t>std</a:t>
            </a:r>
            <a:r>
              <a:t>::</a:t>
            </a:r>
            <a:r>
              <a:rPr>
                <a:solidFill>
                  <a:srgbClr val="C8E1FF"/>
                </a:solidFill>
              </a:rPr>
              <a:t>cout</a:t>
            </a:r>
            <a:r>
              <a:t>.</a:t>
            </a:r>
            <a:r>
              <a:rPr>
                <a:solidFill>
                  <a:srgbClr val="FFF5B1"/>
                </a:solidFill>
              </a:rPr>
              <a:t>flush</a:t>
            </a:r>
            <a:r>
              <a:t>();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79B8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</a:t>
            </a:r>
            <a:r>
              <a:t>const</a:t>
            </a:r>
            <a:r>
              <a:rPr>
                <a:solidFill>
                  <a:srgbClr val="E1E4E8"/>
                </a:solidFill>
              </a:rPr>
              <a:t> </a:t>
            </a:r>
            <a:r>
              <a:t>auto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C8E1FF"/>
                </a:solidFill>
              </a:rPr>
              <a:t>end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4EC9B0"/>
                </a:solidFill>
              </a:rPr>
              <a:t>clock</a:t>
            </a:r>
            <a:r>
              <a:rPr>
                <a:solidFill>
                  <a:srgbClr val="E1E4E8"/>
                </a:solidFill>
              </a:rPr>
              <a:t>::</a:t>
            </a:r>
            <a:r>
              <a:rPr>
                <a:solidFill>
                  <a:srgbClr val="FFF5B1"/>
                </a:solidFill>
              </a:rPr>
              <a:t>now</a:t>
            </a:r>
            <a:r>
              <a:rPr>
                <a:solidFill>
                  <a:srgbClr val="E1E4E8"/>
                </a:solidFill>
              </a:rPr>
              <a:t>();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4EC9B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</a:t>
            </a:r>
            <a:r>
              <a:rPr>
                <a:solidFill>
                  <a:srgbClr val="79B8FF"/>
                </a:solidFill>
              </a:rPr>
              <a:t>const</a:t>
            </a:r>
            <a:r>
              <a:rPr>
                <a:solidFill>
                  <a:srgbClr val="E1E4E8"/>
                </a:solidFill>
              </a:rPr>
              <a:t> </a:t>
            </a:r>
            <a:r>
              <a:t>std</a:t>
            </a:r>
            <a:r>
              <a:rPr>
                <a:solidFill>
                  <a:srgbClr val="E1E4E8"/>
                </a:solidFill>
              </a:rPr>
              <a:t>::</a:t>
            </a:r>
            <a:r>
              <a:t>chrono</a:t>
            </a:r>
            <a:r>
              <a:rPr>
                <a:solidFill>
                  <a:srgbClr val="E1E4E8"/>
                </a:solidFill>
              </a:rPr>
              <a:t>::</a:t>
            </a:r>
            <a:r>
              <a:t>duration</a:t>
            </a:r>
            <a:r>
              <a:rPr>
                <a:solidFill>
                  <a:srgbClr val="FFFFFF"/>
                </a:solidFill>
              </a:rPr>
              <a:t>&lt;</a:t>
            </a:r>
            <a:r>
              <a:rPr>
                <a:solidFill>
                  <a:srgbClr val="79B8FF"/>
                </a:solidFill>
              </a:rPr>
              <a:t>double</a:t>
            </a:r>
            <a:r>
              <a:rPr>
                <a:solidFill>
                  <a:srgbClr val="FFFFFF"/>
                </a:solidFill>
              </a:rPr>
              <a:t>&gt;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C8E1FF"/>
                </a:solidFill>
              </a:rPr>
              <a:t>elapsed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=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C8E1FF"/>
                </a:solidFill>
              </a:rPr>
              <a:t>end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FFF5B1"/>
                </a:solidFill>
              </a:rPr>
              <a:t>-</a:t>
            </a:r>
            <a:r>
              <a:rPr>
                <a:solidFill>
                  <a:srgbClr val="E1E4E8"/>
                </a:solidFill>
              </a:rPr>
              <a:t> </a:t>
            </a:r>
            <a:r>
              <a:rPr>
                <a:solidFill>
                  <a:srgbClr val="C8E1FF"/>
                </a:solidFill>
              </a:rPr>
              <a:t>start</a:t>
            </a:r>
            <a:r>
              <a:rPr>
                <a:solidFill>
                  <a:srgbClr val="E1E4E8"/>
                </a:solidFill>
              </a:rPr>
              <a:t>;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C8E1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E1E4E8"/>
                </a:solidFill>
              </a:rPr>
              <a:t>    </a:t>
            </a:r>
            <a:r>
              <a:rPr>
                <a:solidFill>
                  <a:srgbClr val="D2A8FF"/>
                </a:solidFill>
              </a:rPr>
              <a:t>return</a:t>
            </a:r>
            <a:r>
              <a:rPr>
                <a:solidFill>
                  <a:srgbClr val="E1E4E8"/>
                </a:solidFill>
              </a:rPr>
              <a:t> </a:t>
            </a:r>
            <a:r>
              <a:t>elapsed</a:t>
            </a:r>
            <a:r>
              <a:rPr>
                <a:solidFill>
                  <a:srgbClr val="E1E4E8"/>
                </a:solidFill>
              </a:rPr>
              <a:t>.</a:t>
            </a:r>
            <a:r>
              <a:rPr>
                <a:solidFill>
                  <a:srgbClr val="FFF5B1"/>
                </a:solidFill>
              </a:rPr>
              <a:t>count</a:t>
            </a:r>
            <a:r>
              <a:rPr>
                <a:solidFill>
                  <a:srgbClr val="E1E4E8"/>
                </a:solidFill>
              </a:rPr>
              <a:t>();</a:t>
            </a:r>
            <a:endParaRPr>
              <a:solidFill>
                <a:srgbClr val="E1E4E8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E1E4E8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ython"/>
          <p:cNvSpPr txBox="1"/>
          <p:nvPr/>
        </p:nvSpPr>
        <p:spPr>
          <a:xfrm>
            <a:off x="10313606" y="392856"/>
            <a:ext cx="3756788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Python</a:t>
            </a:r>
          </a:p>
        </p:txBody>
      </p:sp>
      <p:pic>
        <p:nvPicPr>
          <p:cNvPr id="198" name="Python Count To A Billion.mov" descr="Python Count To A Billion.mov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2210898" y="2025179"/>
            <a:ext cx="19962204" cy="11367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53" fill="hold"/>
                                        <p:tgtEl>
                                          <p:spTgt spid="1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98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9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9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++"/>
          <p:cNvSpPr txBox="1"/>
          <p:nvPr/>
        </p:nvSpPr>
        <p:spPr>
          <a:xfrm>
            <a:off x="11074869" y="392856"/>
            <a:ext cx="2234262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C++</a:t>
            </a:r>
          </a:p>
        </p:txBody>
      </p:sp>
      <p:pic>
        <p:nvPicPr>
          <p:cNvPr id="201" name="C++ Count To A Billion.mov" descr="C++ Count To A Billion.mov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2210898" y="2025179"/>
            <a:ext cx="19962204" cy="11367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21" fill="hold"/>
                                        <p:tgtEl>
                                          <p:spTgt spid="2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201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20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1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sults"/>
          <p:cNvSpPr txBox="1"/>
          <p:nvPr/>
        </p:nvSpPr>
        <p:spPr>
          <a:xfrm>
            <a:off x="10183634" y="926105"/>
            <a:ext cx="4016732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Results</a:t>
            </a:r>
          </a:p>
        </p:txBody>
      </p:sp>
      <p:sp>
        <p:nvSpPr>
          <p:cNvPr id="204" name="Done. Elapsed time: 46.27 seconds"/>
          <p:cNvSpPr txBox="1"/>
          <p:nvPr/>
        </p:nvSpPr>
        <p:spPr>
          <a:xfrm>
            <a:off x="7301331" y="4479228"/>
            <a:ext cx="97813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Done. Elapsed time: 46.27 seconds</a:t>
            </a:r>
          </a:p>
        </p:txBody>
      </p:sp>
      <p:sp>
        <p:nvSpPr>
          <p:cNvPr id="205" name="Done. Elapsed time: 1.18 seconds"/>
          <p:cNvSpPr txBox="1"/>
          <p:nvPr/>
        </p:nvSpPr>
        <p:spPr>
          <a:xfrm>
            <a:off x="7470800" y="8067064"/>
            <a:ext cx="944240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Done. Elapsed time: 1.18 seconds</a:t>
            </a:r>
          </a:p>
        </p:txBody>
      </p:sp>
      <p:sp>
        <p:nvSpPr>
          <p:cNvPr id="206" name="Python"/>
          <p:cNvSpPr txBox="1"/>
          <p:nvPr/>
        </p:nvSpPr>
        <p:spPr>
          <a:xfrm>
            <a:off x="1676380" y="3210798"/>
            <a:ext cx="2147317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Python</a:t>
            </a:r>
          </a:p>
        </p:txBody>
      </p:sp>
      <p:sp>
        <p:nvSpPr>
          <p:cNvPr id="207" name="C++"/>
          <p:cNvSpPr txBox="1"/>
          <p:nvPr/>
        </p:nvSpPr>
        <p:spPr>
          <a:xfrm>
            <a:off x="1676380" y="6447741"/>
            <a:ext cx="129753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C++</a:t>
            </a:r>
          </a:p>
        </p:txBody>
      </p:sp>
      <p:sp>
        <p:nvSpPr>
          <p:cNvPr id="208" name="C++ is roughly 39.2 times faster at the same task"/>
          <p:cNvSpPr txBox="1"/>
          <p:nvPr/>
        </p:nvSpPr>
        <p:spPr>
          <a:xfrm>
            <a:off x="5462168" y="11034781"/>
            <a:ext cx="1345966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C++ is roughly 39.2 times faster at the same task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he Mat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Math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How Numerical Methods Work"/>
          <p:cNvSpPr txBox="1"/>
          <p:nvPr/>
        </p:nvSpPr>
        <p:spPr>
          <a:xfrm>
            <a:off x="4209300" y="926105"/>
            <a:ext cx="15965400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How Numerical Methods Work</a:t>
            </a:r>
          </a:p>
        </p:txBody>
      </p:sp>
      <p:sp>
        <p:nvSpPr>
          <p:cNvPr id="213" name="The TLDR…"/>
          <p:cNvSpPr txBox="1"/>
          <p:nvPr/>
        </p:nvSpPr>
        <p:spPr>
          <a:xfrm>
            <a:off x="1322025" y="2674241"/>
            <a:ext cx="21739950" cy="836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100"/>
            </a:pPr>
            <a:r>
              <a:t>The TLDR</a:t>
            </a:r>
          </a:p>
          <a:p>
            <a:pPr marL="393700" indent="-393700">
              <a:buSzPct val="123000"/>
              <a:buChar char="•"/>
              <a:defRPr b="1" sz="3100"/>
            </a:pPr>
            <a:r>
              <a:t>What are they? </a:t>
            </a:r>
            <a:r>
              <a:rPr b="0"/>
              <a:t>Numerical methods are algorithms that approximate solutions to problems that are too hard (or impossible) to solve exactly with algebra/calculus.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Core idea: </a:t>
            </a:r>
            <a:r>
              <a:rPr b="0"/>
              <a:t>Replace a continuous problem with a sequence of small, manageable steps that a computer can compute.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How do they work? </a:t>
            </a:r>
            <a:r>
              <a:rPr b="0"/>
              <a:t>Start from known information (initial conditions), apply a repeatable update rule, and accumulate results until the desired endpoint is reached.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Step size: </a:t>
            </a:r>
            <a:r>
              <a:rPr b="0"/>
              <a:t>Smaller time steps usually give better accuracy, but require more computation; larger steps are faster but can miss important behavior of said system.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Trade-offs: </a:t>
            </a:r>
            <a:r>
              <a:rPr b="0"/>
              <a:t>Methods differ in accuracy, stability, speed, and memory use, no single “best” method for every problem.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Validation: </a:t>
            </a:r>
            <a:r>
              <a:rPr b="0"/>
              <a:t>Results are checked by testing on known cases, comparing multiple methods, and verifying expected properties.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A Primitive Method: FEDS"/>
          <p:cNvSpPr txBox="1"/>
          <p:nvPr/>
        </p:nvSpPr>
        <p:spPr>
          <a:xfrm>
            <a:off x="5440756" y="926105"/>
            <a:ext cx="13502488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A Primitive Method: FEDS</a:t>
            </a:r>
          </a:p>
        </p:txBody>
      </p:sp>
      <p:sp>
        <p:nvSpPr>
          <p:cNvPr id="216" name="The Algorithm…"/>
          <p:cNvSpPr txBox="1"/>
          <p:nvPr/>
        </p:nvSpPr>
        <p:spPr>
          <a:xfrm>
            <a:off x="1322025" y="3690521"/>
            <a:ext cx="21739950" cy="6334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100"/>
            </a:pPr>
            <a:r>
              <a:t>The Algorithm</a:t>
            </a:r>
          </a:p>
          <a:p>
            <a:pPr>
              <a:defRPr sz="3100"/>
            </a:pPr>
            <a:r>
              <a:t>Given an Initial Value Problem (</a:t>
            </a:r>
            <a:r>
              <a:rPr b="1"/>
              <a:t>IVP</a:t>
            </a:r>
            <a:r>
              <a:t>)</a:t>
            </a:r>
          </a:p>
          <a:p>
            <a:pPr algn="ctr">
              <a:defRPr sz="3100"/>
            </a:pPr>
            <a14:m>
              <m:oMathPara>
                <m:oMathParaPr>
                  <m:jc m:val="center"/>
                </m:oMathParaPr>
                <m:oMath>
                  <m:f>
                    <m:fPr>
                      <m:ctrlP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num>
                    <m:den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den>
                  </m:f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</m:oMath>
              </m:oMathPara>
            </a14:m>
          </a:p>
          <a:p>
            <a:pPr>
              <a:defRPr sz="3100"/>
            </a:pPr>
            <a:r>
              <a:t>pick a step size </a:t>
            </a:r>
            <a14:m>
              <m:oMath>
                <m:r>
                  <a:rPr xmlns:a="http://schemas.openxmlformats.org/drawingml/2006/main" sz="37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h</m:t>
                </m:r>
              </m:oMath>
            </a14:m>
            <a:r>
              <a:t>, </a:t>
            </a:r>
            <a14:m>
              <m:oMath>
                <m:sSub>
                  <m:e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37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37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37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h</m:t>
                </m:r>
              </m:oMath>
            </a14:m>
            <a:r>
              <a:t>, and then iterate</a:t>
            </a:r>
          </a:p>
          <a:p>
            <a:pPr algn="ctr">
              <a:defRPr sz="31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⋅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  <a:p>
            <a:pPr>
              <a:defRPr sz="3100"/>
            </a:pPr>
            <a:r>
              <a:t>and that’s it, and it sucks.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A More Robust Method: RK4"/>
          <p:cNvSpPr txBox="1"/>
          <p:nvPr/>
        </p:nvSpPr>
        <p:spPr>
          <a:xfrm>
            <a:off x="4701336" y="457493"/>
            <a:ext cx="1498132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A More Robust Method: RK4</a:t>
            </a:r>
          </a:p>
        </p:txBody>
      </p:sp>
      <p:sp>
        <p:nvSpPr>
          <p:cNvPr id="219" name="The Algorithm…"/>
          <p:cNvSpPr txBox="1"/>
          <p:nvPr/>
        </p:nvSpPr>
        <p:spPr>
          <a:xfrm>
            <a:off x="1322025" y="1858752"/>
            <a:ext cx="21739950" cy="116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100"/>
            </a:pPr>
            <a:r>
              <a:t>The Algorithm</a:t>
            </a:r>
          </a:p>
          <a:p>
            <a:pPr>
              <a:defRPr sz="3100"/>
            </a:pPr>
            <a:r>
              <a:t>Given an Initial Value Problem (</a:t>
            </a:r>
            <a:r>
              <a:rPr b="1"/>
              <a:t>IVP</a:t>
            </a:r>
            <a:r>
              <a:t>)</a:t>
            </a:r>
          </a:p>
          <a:p>
            <a:pPr algn="ctr">
              <a:defRPr sz="3100"/>
            </a:pPr>
            <a14:m>
              <m:oMathPara>
                <m:oMathParaPr>
                  <m:jc m:val="center"/>
                </m:oMathParaPr>
                <m:oMath>
                  <m:f>
                    <m:fPr>
                      <m:ctrlP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num>
                    <m:den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den>
                  </m:f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</m:oMath>
              </m:oMathPara>
            </a14:m>
          </a:p>
          <a:p>
            <a:pPr>
              <a:defRPr sz="3100"/>
            </a:pPr>
            <a:r>
              <a:t>pick a step size </a:t>
            </a:r>
            <a14:m>
              <m:oMath>
                <m:r>
                  <a:rPr xmlns:a="http://schemas.openxmlformats.org/drawingml/2006/main" sz="37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h</m:t>
                </m:r>
              </m:oMath>
            </a14:m>
            <a:r>
              <a:t>, </a:t>
            </a:r>
            <a14:m>
              <m:oMath>
                <m:sSub>
                  <m:e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37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xmlns:a="http://schemas.openxmlformats.org/drawingml/2006/main" sz="37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37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37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h</m:t>
                </m:r>
              </m:oMath>
            </a14:m>
            <a:r>
              <a:t>, and then compute what is called the slopes:</a:t>
            </a:r>
          </a:p>
          <a:p>
            <a:pPr algn="ctr">
              <a:defRPr sz="3100"/>
            </a:pPr>
            <a14:m>
              <m:oMathPara>
                <m:oMathParaPr>
                  <m:jc m:val="center"/>
                </m:oMathParaPr>
                <m:oMath>
                  <m:m>
                    <m:mPr>
                      <m:ctrlP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baseJc m:val="center"/>
                      <m:plcHide m:val="on"/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</m:mPr>
                    <m:mr>
                      <m:e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mr>
                    <m:mr>
                      <m:e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  <m:type m:val="bar"/>
                          </m:fPr>
                          <m:num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  <m:type m:val="bar"/>
                          </m:fPr>
                          <m:num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mr>
                    <m:mr>
                      <m:e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  <m:type m:val="bar"/>
                          </m:fPr>
                          <m:num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  <m:type m:val="bar"/>
                          </m:fPr>
                          <m:num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mr>
                    <m:mr>
                      <m:e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  <m:e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a:rPr xmlns:a="http://schemas.openxmlformats.org/drawingml/2006/main" sz="37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xmlns:a="http://schemas.openxmlformats.org/drawingml/2006/main" sz="37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mr>
                  </m:m>
                </m:oMath>
              </m:oMathPara>
            </a14:m>
          </a:p>
          <a:p>
            <a:pPr>
              <a:defRPr sz="3100"/>
            </a:pPr>
            <a:r>
              <a:t>Then update:</a:t>
            </a:r>
          </a:p>
          <a:p>
            <a:pPr algn="ctr">
              <a:defRPr sz="31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num>
                    <m:den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den>
                  </m:f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⋅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  <a:p>
            <a:pPr>
              <a:defRPr sz="3100"/>
            </a:pPr>
            <a:r>
              <a:t>And it’s, pretty good.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he Phys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Physics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he Physical Syste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70121">
              <a:defRPr spc="-151" sz="7565"/>
            </a:lvl1pPr>
          </a:lstStyle>
          <a:p>
            <a:pPr/>
            <a:r>
              <a:t>The Physical Systems</a:t>
            </a:r>
          </a:p>
        </p:txBody>
      </p:sp>
      <p:sp>
        <p:nvSpPr>
          <p:cNvPr id="224" name="Single Body System…"/>
          <p:cNvSpPr txBox="1"/>
          <p:nvPr>
            <p:ph type="body" sz="half" idx="1"/>
          </p:nvPr>
        </p:nvSpPr>
        <p:spPr>
          <a:xfrm>
            <a:off x="1187777" y="2729994"/>
            <a:ext cx="9779001" cy="8256012"/>
          </a:xfrm>
          <a:prstGeom prst="rect">
            <a:avLst/>
          </a:prstGeom>
        </p:spPr>
        <p:txBody>
          <a:bodyPr/>
          <a:lstStyle/>
          <a:p>
            <a:pPr/>
            <a:r>
              <a:t>Single Body System</a:t>
            </a:r>
          </a:p>
          <a:p>
            <a:pPr/>
            <a:r>
              <a:t>Two Body System</a:t>
            </a:r>
          </a:p>
          <a:p>
            <a:pPr/>
            <a:r>
              <a:t>Three Body System</a:t>
            </a:r>
          </a:p>
          <a:p>
            <a:pPr/>
            <a:r>
              <a:t>N-Body System</a:t>
            </a:r>
          </a:p>
        </p:txBody>
      </p:sp>
      <p:pic>
        <p:nvPicPr>
          <p:cNvPr id="225" name="Dual Slit.png" descr="Dual Slit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0" t="0" r="0" b="2255"/>
          <a:stretch>
            <a:fillRect/>
          </a:stretch>
        </p:blipFill>
        <p:spPr>
          <a:xfrm>
            <a:off x="12192000" y="1263650"/>
            <a:ext cx="10922000" cy="111887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ingle Body System (Projectile Motion)"/>
          <p:cNvSpPr txBox="1"/>
          <p:nvPr/>
        </p:nvSpPr>
        <p:spPr>
          <a:xfrm>
            <a:off x="2044014" y="926105"/>
            <a:ext cx="20295972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Single Body System (Projectile Motion)</a:t>
            </a:r>
          </a:p>
        </p:txBody>
      </p:sp>
      <p:pic>
        <p:nvPicPr>
          <p:cNvPr id="228" name="Single Body Force Attraction.jpg" descr="Single Body Force Attraction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18814" y="2956520"/>
            <a:ext cx="16346372" cy="100093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ingle Body System (Projectile Motion)"/>
          <p:cNvSpPr txBox="1"/>
          <p:nvPr/>
        </p:nvSpPr>
        <p:spPr>
          <a:xfrm>
            <a:off x="2044014" y="926105"/>
            <a:ext cx="20295972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Single Body System (Projectile Motion)</a:t>
            </a:r>
          </a:p>
        </p:txBody>
      </p:sp>
      <p:sp>
        <p:nvSpPr>
          <p:cNvPr id="231" name="Starting With Newtonian Gravitation…"/>
          <p:cNvSpPr txBox="1"/>
          <p:nvPr/>
        </p:nvSpPr>
        <p:spPr>
          <a:xfrm>
            <a:off x="1322025" y="3861725"/>
            <a:ext cx="21739950" cy="9270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4200"/>
            </a:pPr>
            <a:r>
              <a:t>Starting With Newtonian Gravitation</a:t>
            </a:r>
          </a:p>
          <a:p>
            <a:pPr algn="ctr">
              <a:defRPr b="1" sz="4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50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xmlns:a="http://schemas.openxmlformats.org/drawingml/2006/main" sz="50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50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num>
                    <m:den>
                      <m:sSup>
                        <m:e>
                          <m:r>
                            <a:rPr xmlns:a="http://schemas.openxmlformats.org/drawingml/2006/main" sz="50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xmlns:a="http://schemas.openxmlformats.org/drawingml/2006/main" sz="50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</a:p>
          <a:p>
            <a:pPr>
              <a:defRPr b="1" sz="4200"/>
            </a:pPr>
            <a:r>
              <a:t>Using Newton’s Second Law</a:t>
            </a:r>
          </a:p>
          <a:p>
            <a:pPr algn="ctr">
              <a:defRPr b="1" sz="4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</m:oMath>
              </m:oMathPara>
            </a14:m>
          </a:p>
          <a:p>
            <a:pPr>
              <a:defRPr b="1" sz="4200"/>
            </a:pPr>
            <a:r>
              <a:t>Solving For Acceleration</a:t>
            </a:r>
          </a:p>
          <a:p>
            <a:pPr algn="ctr">
              <a:defRPr b="1" sz="4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50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xmlns:a="http://schemas.openxmlformats.org/drawingml/2006/main" sz="50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num>
                    <m:den>
                      <m:sSup>
                        <m:e>
                          <m:r>
                            <a:rPr xmlns:a="http://schemas.openxmlformats.org/drawingml/2006/main" sz="50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xmlns:a="http://schemas.openxmlformats.org/drawingml/2006/main" sz="50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</a:p>
          <a:p>
            <a:pPr>
              <a:defRPr sz="4200"/>
            </a:pPr>
            <a14:m>
              <m:oMath>
                <m:r>
                  <a:rPr xmlns:a="http://schemas.openxmlformats.org/drawingml/2006/main" sz="50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xmlns:a="http://schemas.openxmlformats.org/drawingml/2006/main" sz="50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0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xmlns:a="http://schemas.openxmlformats.org/drawingml/2006/main" sz="50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50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y</m:t>
                </m:r>
              </m:oMath>
            </a14:m>
            <a:r>
              <a:t> where </a:t>
            </a:r>
            <a14:m>
              <m:oMath>
                <m:r>
                  <a:rPr xmlns:a="http://schemas.openxmlformats.org/drawingml/2006/main" sz="50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R</m:t>
                </m:r>
              </m:oMath>
            </a14:m>
            <a:r>
              <a:t> is the radius of our body and </a:t>
            </a:r>
            <a14:m>
              <m:oMath>
                <m:r>
                  <a:rPr xmlns:a="http://schemas.openxmlformats.org/drawingml/2006/main" sz="50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y</m:t>
                </m:r>
              </m:oMath>
            </a14:m>
            <a:r>
              <a:t> is the object’s initial vertical position.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wo Body System"/>
          <p:cNvSpPr txBox="1"/>
          <p:nvPr/>
        </p:nvSpPr>
        <p:spPr>
          <a:xfrm>
            <a:off x="7513205" y="926105"/>
            <a:ext cx="9357590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Two Body System</a:t>
            </a:r>
          </a:p>
        </p:txBody>
      </p:sp>
      <p:pic>
        <p:nvPicPr>
          <p:cNvPr id="234" name="Two Body Force Attraction.jpg" descr="Two Body Force Attraction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72751" y="2813536"/>
            <a:ext cx="16838498" cy="103560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wo Body System"/>
          <p:cNvSpPr txBox="1"/>
          <p:nvPr/>
        </p:nvSpPr>
        <p:spPr>
          <a:xfrm>
            <a:off x="7513205" y="926105"/>
            <a:ext cx="9357590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Two Body System</a:t>
            </a:r>
          </a:p>
        </p:txBody>
      </p:sp>
      <p:sp>
        <p:nvSpPr>
          <p:cNvPr id="237" name="Starting With Newtonian Gravitation…"/>
          <p:cNvSpPr txBox="1"/>
          <p:nvPr/>
        </p:nvSpPr>
        <p:spPr>
          <a:xfrm>
            <a:off x="1322025" y="2686279"/>
            <a:ext cx="21739950" cy="10646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400"/>
            </a:pPr>
            <a:r>
              <a:t>Starting With Newtonian Gravitation</a:t>
            </a:r>
          </a:p>
          <a:p>
            <a:pPr algn="ctr">
              <a:defRPr b="1" sz="3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Su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</m:oMath>
              </m:oMathPara>
            </a14:m>
          </a:p>
          <a:p>
            <a:pPr>
              <a:defRPr b="1" sz="3400"/>
            </a:pPr>
            <a:r>
              <a:t>Using Newton’s Second Law</a:t>
            </a:r>
          </a:p>
          <a:p>
            <a:pPr algn="ctr">
              <a:defRPr b="1" sz="3400"/>
            </a:pPr>
            <a14:m>
              <m:oMathPara>
                <m:oMathParaPr>
                  <m:jc m:val="center"/>
                </m:oMathParaPr>
                <m:oMath>
                  <m:limUpp>
                    <m:e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e>
                    <m:lim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⃗</m:t>
                      </m:r>
                    </m:lim>
                  </m:limUpp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</m:oMath>
              </m:oMathPara>
            </a14:m>
          </a:p>
          <a:p>
            <a:pPr>
              <a:defRPr b="1" sz="3400"/>
            </a:pPr>
            <a:r>
              <a:t>Extrapolating For Each Body</a:t>
            </a:r>
          </a:p>
          <a:p>
            <a:pPr algn="ctr">
              <a:defRPr b="1" sz="3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Su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</m:oMath>
              </m:oMathPara>
            </a14:m>
          </a:p>
          <a:p>
            <a:pPr>
              <a:defRPr b="1" sz="3400"/>
            </a:pPr>
            <a:r>
              <a:t>Where For Each Body</a:t>
            </a:r>
          </a:p>
          <a:p>
            <a:pPr algn="ctr">
              <a:defRPr b="1" sz="34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1,2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≠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j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sSub>
                    <m:e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∥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∥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>
                        <m:e>
                          <m:limUpp>
                            <m:e>
                              <m:r>
                                <a:rPr xmlns:a="http://schemas.openxmlformats.org/drawingml/2006/main" sz="41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lim>
                              <m:r>
                                <a:rPr xmlns:a="http://schemas.openxmlformats.org/drawingml/2006/main" sz="41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⃗</m:t>
                              </m:r>
                            </m:lim>
                          </m:limUpp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den>
                  </m:f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hree Body System"/>
          <p:cNvSpPr txBox="1"/>
          <p:nvPr/>
        </p:nvSpPr>
        <p:spPr>
          <a:xfrm>
            <a:off x="7077418" y="926105"/>
            <a:ext cx="10229165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Three Body System</a:t>
            </a:r>
          </a:p>
        </p:txBody>
      </p:sp>
      <p:pic>
        <p:nvPicPr>
          <p:cNvPr id="240" name="Three Body Force Attraction.jpg" descr="Three Body Force Attraction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15573" y="2740962"/>
            <a:ext cx="15352854" cy="103535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hree Body System"/>
          <p:cNvSpPr txBox="1"/>
          <p:nvPr/>
        </p:nvSpPr>
        <p:spPr>
          <a:xfrm>
            <a:off x="7077418" y="926105"/>
            <a:ext cx="10229165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Three Body System</a:t>
            </a:r>
          </a:p>
        </p:txBody>
      </p:sp>
      <p:sp>
        <p:nvSpPr>
          <p:cNvPr id="243" name="Starting With Newtonian Gravitation…"/>
          <p:cNvSpPr txBox="1"/>
          <p:nvPr/>
        </p:nvSpPr>
        <p:spPr>
          <a:xfrm>
            <a:off x="1322025" y="2686279"/>
            <a:ext cx="21739950" cy="10646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400"/>
            </a:pPr>
            <a:r>
              <a:t>Starting With Newtonian Gravitation</a:t>
            </a:r>
          </a:p>
          <a:p>
            <a:pPr algn="ctr">
              <a:defRPr b="1" sz="3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Su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num>
                    <m:den>
                      <m:sSubSu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  <m:sup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b>
                  </m:sSub>
                </m:oMath>
              </m:oMathPara>
            </a14:m>
          </a:p>
          <a:p>
            <a:pPr>
              <a:defRPr b="1" sz="3400"/>
            </a:pPr>
            <a:r>
              <a:t>Using Newton’s Second Law</a:t>
            </a:r>
          </a:p>
          <a:p>
            <a:pPr algn="ctr">
              <a:defRPr b="1" sz="3400"/>
            </a:pPr>
            <a14:m>
              <m:oMathPara>
                <m:oMathParaPr>
                  <m:jc m:val="center"/>
                </m:oMathParaPr>
                <m:oMath>
                  <m:limUpp>
                    <m:e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e>
                    <m:lim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⃗</m:t>
                      </m:r>
                    </m:lim>
                  </m:limUpp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</m:oMath>
              </m:oMathPara>
            </a14:m>
          </a:p>
          <a:p>
            <a:pPr>
              <a:defRPr b="1" sz="3400"/>
            </a:pPr>
            <a:r>
              <a:t>Extrapolating For Each Body</a:t>
            </a:r>
          </a:p>
          <a:p>
            <a:pPr algn="ctr">
              <a:defRPr b="1" sz="3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Su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num>
                    <m:den>
                      <m:sSubSu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  <m:sup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b>
                  </m:sSub>
                </m:oMath>
              </m:oMathPara>
            </a14:m>
          </a:p>
          <a:p>
            <a:pPr>
              <a:defRPr b="1" sz="3400"/>
            </a:pPr>
            <a:r>
              <a:t>Where For Each Body</a:t>
            </a:r>
          </a:p>
          <a:p>
            <a:pPr algn="ctr">
              <a:defRPr b="1" sz="34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1,2,3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≠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j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sSub>
                    <m:e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∥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∥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>
                        <m:e>
                          <m:limUpp>
                            <m:e>
                              <m:r>
                                <a:rPr xmlns:a="http://schemas.openxmlformats.org/drawingml/2006/main" sz="41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lim>
                              <m:r>
                                <a:rPr xmlns:a="http://schemas.openxmlformats.org/drawingml/2006/main" sz="41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⃗</m:t>
                              </m:r>
                            </m:lim>
                          </m:limUpp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4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den>
                  </m:f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N-Body System"/>
          <p:cNvSpPr txBox="1"/>
          <p:nvPr/>
        </p:nvSpPr>
        <p:spPr>
          <a:xfrm>
            <a:off x="8089341" y="926105"/>
            <a:ext cx="8205318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N-Body System</a:t>
            </a:r>
          </a:p>
        </p:txBody>
      </p:sp>
      <p:pic>
        <p:nvPicPr>
          <p:cNvPr id="246" name="N-Body Force Attraction.jpg" descr="N-Body Force Attraction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6152" y="2718359"/>
            <a:ext cx="12511696" cy="10302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N-Body System"/>
          <p:cNvSpPr txBox="1"/>
          <p:nvPr/>
        </p:nvSpPr>
        <p:spPr>
          <a:xfrm>
            <a:off x="8089341" y="926105"/>
            <a:ext cx="8205318" cy="1403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N-Body System</a:t>
            </a:r>
          </a:p>
        </p:txBody>
      </p:sp>
      <p:sp>
        <p:nvSpPr>
          <p:cNvPr id="249" name="Starting With Newtonian Gravitation…"/>
          <p:cNvSpPr txBox="1"/>
          <p:nvPr/>
        </p:nvSpPr>
        <p:spPr>
          <a:xfrm>
            <a:off x="1322025" y="2480978"/>
            <a:ext cx="21739950" cy="11057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100"/>
            </a:pPr>
            <a:r>
              <a:t>Starting With Newtonian Gravitation</a:t>
            </a:r>
          </a:p>
          <a:p>
            <a:pPr algn="ctr">
              <a:defRPr b="1" sz="31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eqArr>
                            <m:eqArrPr>
                              <m:ctrlP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eqArr>
                        </m:lim>
                      </m:limLow>
                    </m:e>
                    <m:lim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sSub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Su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</m:oMath>
              </m:oMathPara>
            </a14:m>
          </a:p>
          <a:p>
            <a:pPr>
              <a:defRPr b="1" sz="3100"/>
            </a:pPr>
            <a:r>
              <a:t>Using Newton’s Second Law</a:t>
            </a:r>
          </a:p>
          <a:p>
            <a:pPr algn="ctr">
              <a:defRPr b="1" sz="3100"/>
            </a:pPr>
            <a14:m>
              <m:oMathPara>
                <m:oMathParaPr>
                  <m:jc m:val="center"/>
                </m:oMathParaPr>
                <m:oMath>
                  <m:limUpp>
                    <m:e>
                      <m:sSub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e>
                    <m:lim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⃗</m:t>
                      </m:r>
                    </m:lim>
                  </m:limUpp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</m:oMath>
              </m:oMathPara>
            </a14:m>
          </a:p>
          <a:p>
            <a:pPr>
              <a:defRPr b="1" sz="3100"/>
            </a:pPr>
            <a:r>
              <a:t>Extrapolating For Each Body</a:t>
            </a:r>
          </a:p>
          <a:p>
            <a:pPr algn="ctr">
              <a:defRPr b="1" sz="31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eqArr>
                            <m:eqArrPr>
                              <m:ctrlP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eqArr>
                        </m:lim>
                      </m:limLow>
                    </m:e>
                    <m:lim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sSub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Su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den>
                  </m:f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</m:oMath>
              </m:oMathPara>
            </a14:m>
          </a:p>
          <a:p>
            <a:pPr>
              <a:defRPr b="1" sz="3100"/>
            </a:pPr>
            <a:r>
              <a:t>Where For Each Body</a:t>
            </a:r>
          </a:p>
          <a:p>
            <a:pPr algn="ctr">
              <a:defRPr b="1" sz="31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∈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1,2,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≠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j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-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∥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∥</m:t>
                  </m:r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limUpp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lim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⃗</m:t>
                          </m:r>
                        </m:lim>
                      </m:limUpp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37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37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>
                        <m:e>
                          <m:limUpp>
                            <m:e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lim>
                              <m:r>
                                <a:rPr xmlns:a="http://schemas.openxmlformats.org/drawingml/2006/main" sz="37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⃗</m:t>
                              </m:r>
                            </m:lim>
                          </m:limUpp>
                        </m:e>
                        <m:sub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37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den>
                  </m:f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factored Resul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Refactored Results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ingle Body Baseli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67655">
              <a:defRPr spc="-158" sz="7905"/>
            </a:lvl1pPr>
          </a:lstStyle>
          <a:p>
            <a:pPr/>
            <a:r>
              <a:t>Single Body Baseline</a:t>
            </a:r>
          </a:p>
        </p:txBody>
      </p:sp>
      <p:sp>
        <p:nvSpPr>
          <p:cNvPr id="254" name="We first test on Earth, and compare results with kinematics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first test on Earth, and compare results with kinematics.</a:t>
            </a:r>
          </a:p>
          <a:p>
            <a:pPr/>
            <a:r>
              <a:t>Once verified, we can test on other planets, masses, etc.</a:t>
            </a:r>
          </a:p>
        </p:txBody>
      </p:sp>
      <p:pic>
        <p:nvPicPr>
          <p:cNvPr id="255" name="Who's Laughing Now Pigs.jpeg" descr="Who's Laughing Now Pigs.jpe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1875" t="0" r="1875" b="0"/>
          <a:stretch>
            <a:fillRect/>
          </a:stretch>
        </p:blipFill>
        <p:spPr>
          <a:xfrm>
            <a:off x="12192000" y="1263650"/>
            <a:ext cx="10922000" cy="111887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ingle Body System On Earth"/>
          <p:cNvSpPr txBox="1"/>
          <p:nvPr/>
        </p:nvSpPr>
        <p:spPr>
          <a:xfrm>
            <a:off x="4509109" y="812992"/>
            <a:ext cx="15365782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Single Body System On Earth</a:t>
            </a:r>
          </a:p>
        </p:txBody>
      </p:sp>
      <p:pic>
        <p:nvPicPr>
          <p:cNvPr id="258" name="Single Body Earth - Position.png" descr="Single Body Earth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445" y="5165243"/>
            <a:ext cx="10715644" cy="642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Single Body Earth - Velocity.png" descr="Single Body Earth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74069" y="5165243"/>
            <a:ext cx="10715645" cy="6429387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Text"/>
          <p:cNvSpPr txBox="1"/>
          <p:nvPr/>
        </p:nvSpPr>
        <p:spPr>
          <a:xfrm>
            <a:off x="7021204" y="3386119"/>
            <a:ext cx="10341592" cy="609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25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7.74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ingle Body System On Pluto"/>
          <p:cNvSpPr txBox="1"/>
          <p:nvPr/>
        </p:nvSpPr>
        <p:spPr>
          <a:xfrm>
            <a:off x="4550066" y="812992"/>
            <a:ext cx="15283867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Single Body System On Pluto</a:t>
            </a:r>
          </a:p>
        </p:txBody>
      </p:sp>
      <p:pic>
        <p:nvPicPr>
          <p:cNvPr id="263" name="Single Body Pluto - Position.png" descr="Single Body Pluto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445" y="5165243"/>
            <a:ext cx="10715644" cy="642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Single Body Pluto - Velocity.png" descr="Single Body Pluto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9594" y="5165243"/>
            <a:ext cx="10715645" cy="6429387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ext"/>
          <p:cNvSpPr txBox="1"/>
          <p:nvPr/>
        </p:nvSpPr>
        <p:spPr>
          <a:xfrm>
            <a:off x="7021204" y="3386119"/>
            <a:ext cx="10341592" cy="609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25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7.74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wo Body Baseli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Two Body Baseline</a:t>
            </a:r>
          </a:p>
        </p:txBody>
      </p:sp>
      <p:sp>
        <p:nvSpPr>
          <p:cNvPr id="268" name="Next Step In Complexit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Next Step In Complexity</a:t>
            </a:r>
          </a:p>
        </p:txBody>
      </p:sp>
      <p:sp>
        <p:nvSpPr>
          <p:cNvPr id="269" name="We now test our numerical solvers with that of known systems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now test our numerical solvers with that of known systems.</a:t>
            </a:r>
          </a:p>
          <a:p>
            <a:pPr/>
            <a:r>
              <a:t>After the results are verified, we can test more unknown systems.</a:t>
            </a:r>
          </a:p>
          <a:p>
            <a:pPr/>
            <a:r>
              <a:t>And then move on to the three body problem.</a:t>
            </a:r>
          </a:p>
        </p:txBody>
      </p:sp>
      <p:pic>
        <p:nvPicPr>
          <p:cNvPr id="270" name="Two Body Problem Joey.jpg" descr="Two Body Problem Joey.jp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1328" t="0" r="0" b="0"/>
          <a:stretch>
            <a:fillRect/>
          </a:stretch>
        </p:blipFill>
        <p:spPr>
          <a:xfrm>
            <a:off x="12192000" y="1263650"/>
            <a:ext cx="10922000" cy="111887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wo Body System Of Earth"/>
          <p:cNvSpPr txBox="1"/>
          <p:nvPr/>
        </p:nvSpPr>
        <p:spPr>
          <a:xfrm>
            <a:off x="5207025" y="812992"/>
            <a:ext cx="13969950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Two Body System Of Earth</a:t>
            </a:r>
          </a:p>
        </p:txBody>
      </p:sp>
      <p:sp>
        <p:nvSpPr>
          <p:cNvPr id="273" name="One orbital period of Earth is plotted:"/>
          <p:cNvSpPr txBox="1"/>
          <p:nvPr/>
        </p:nvSpPr>
        <p:spPr>
          <a:xfrm>
            <a:off x="6063367" y="2838066"/>
            <a:ext cx="12257266" cy="170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200"/>
            </a:pPr>
            <a:r>
              <a:t>One orbital period of Earth is plotted:</a:t>
            </a:r>
          </a:p>
          <a:p>
            <a:pPr algn="ctr">
              <a:defRPr sz="3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365.25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31,557,601</m:t>
                  </m:r>
                </m:oMath>
              </m:oMathPara>
            </a14:m>
          </a:p>
        </p:txBody>
      </p:sp>
      <p:pic>
        <p:nvPicPr>
          <p:cNvPr id="274" name="Two Body Earth And Sun - Position.png" descr="Two Body Earth And Sun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445" y="5165243"/>
            <a:ext cx="10715644" cy="642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Two Body Earth And Sun - Velocity.png" descr="Two Body Earth And Sun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57911" y="5165243"/>
            <a:ext cx="10715644" cy="64293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wo Body System Of Pluto"/>
          <p:cNvSpPr txBox="1"/>
          <p:nvPr/>
        </p:nvSpPr>
        <p:spPr>
          <a:xfrm>
            <a:off x="5247982" y="812992"/>
            <a:ext cx="13888036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Two Body System Of Pluto</a:t>
            </a:r>
          </a:p>
        </p:txBody>
      </p:sp>
      <p:sp>
        <p:nvSpPr>
          <p:cNvPr id="278" name="One orbital period of Pluto is plotted:"/>
          <p:cNvSpPr txBox="1"/>
          <p:nvPr/>
        </p:nvSpPr>
        <p:spPr>
          <a:xfrm>
            <a:off x="6009311" y="2838066"/>
            <a:ext cx="12365378" cy="170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200"/>
            </a:pPr>
            <a:r>
              <a:t>One orbital period of Pluto is plotted:</a:t>
            </a:r>
          </a:p>
          <a:p>
            <a:pPr algn="ctr">
              <a:defRPr sz="3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1,000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248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7,826,285</m:t>
                  </m:r>
                </m:oMath>
              </m:oMathPara>
            </a14:m>
          </a:p>
        </p:txBody>
      </p:sp>
      <p:pic>
        <p:nvPicPr>
          <p:cNvPr id="279" name="Two Body Pluto And Sun - Position.png" descr="Two Body Pluto And Sun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224" y="5165243"/>
            <a:ext cx="10715645" cy="642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Two Body Pluto And Sun - Velocity.png" descr="Two Body Pluto And Sun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74069" y="5165243"/>
            <a:ext cx="10715645" cy="64293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hree Body Baseli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spc="-161" sz="8075"/>
            </a:lvl1pPr>
          </a:lstStyle>
          <a:p>
            <a:pPr/>
            <a:r>
              <a:t>Three Body Baseline</a:t>
            </a:r>
          </a:p>
        </p:txBody>
      </p:sp>
      <p:sp>
        <p:nvSpPr>
          <p:cNvPr id="283" name="Almost To N-Body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Almost To N-Body</a:t>
            </a:r>
          </a:p>
        </p:txBody>
      </p:sp>
      <p:sp>
        <p:nvSpPr>
          <p:cNvPr id="284" name="Knowing that the Two Body solvers are working, we now can begin to move on to a more complicated system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Knowing that the Two Body solvers are working, we now can begin to move on to a more complicated system.</a:t>
            </a:r>
          </a:p>
          <a:p>
            <a:pPr/>
            <a:r>
              <a:t>We test with known orbits again, and then test with foreign systems.</a:t>
            </a:r>
          </a:p>
        </p:txBody>
      </p:sp>
      <p:pic>
        <p:nvPicPr>
          <p:cNvPr id="285" name="Newton Three Body Problem.png" descr="Newton Three Body Problem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0" t="2831" r="0" b="2831"/>
          <a:stretch>
            <a:fillRect/>
          </a:stretch>
        </p:blipFill>
        <p:spPr>
          <a:xfrm>
            <a:off x="12192000" y="1263650"/>
            <a:ext cx="10922000" cy="111887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hree Body System - Sun, Earth, Mars"/>
          <p:cNvSpPr txBox="1"/>
          <p:nvPr/>
        </p:nvSpPr>
        <p:spPr>
          <a:xfrm>
            <a:off x="2231872" y="812992"/>
            <a:ext cx="19920256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Three Body System - Sun, Earth, Mars</a:t>
            </a:r>
          </a:p>
        </p:txBody>
      </p:sp>
      <p:sp>
        <p:nvSpPr>
          <p:cNvPr id="288" name="One orbital period of Mars Plotted:"/>
          <p:cNvSpPr txBox="1"/>
          <p:nvPr/>
        </p:nvSpPr>
        <p:spPr>
          <a:xfrm>
            <a:off x="6370185" y="2838066"/>
            <a:ext cx="11643630" cy="170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200"/>
            </a:pPr>
            <a:r>
              <a:t>One orbital period of Mars Plotted: </a:t>
            </a:r>
          </a:p>
          <a:p>
            <a:pPr>
              <a:defRPr sz="32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687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59,356,690</m:t>
                  </m:r>
                </m:oMath>
              </m:oMathPara>
            </a14:m>
          </a:p>
        </p:txBody>
      </p:sp>
      <p:pic>
        <p:nvPicPr>
          <p:cNvPr id="289" name="Three Body System Sun, Earth, Mars - Position.png" descr="Three Body System Sun, Earth, Mars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6000" y="5165243"/>
            <a:ext cx="10715644" cy="642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Three Body System Sun, Earth, Mars - Velocity.png" descr="Three Body System Sun, Earth, Mars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84623" y="5165243"/>
            <a:ext cx="10715644" cy="64293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hree Body System - Sun, Mars, Saturn"/>
          <p:cNvSpPr txBox="1"/>
          <p:nvPr/>
        </p:nvSpPr>
        <p:spPr>
          <a:xfrm>
            <a:off x="1897659" y="812992"/>
            <a:ext cx="20588683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Three Body System - Sun, Mars, Saturn</a:t>
            </a:r>
          </a:p>
        </p:txBody>
      </p:sp>
      <p:sp>
        <p:nvSpPr>
          <p:cNvPr id="293" name="One orbital period of Saturn Plotted:"/>
          <p:cNvSpPr txBox="1"/>
          <p:nvPr/>
        </p:nvSpPr>
        <p:spPr>
          <a:xfrm>
            <a:off x="6036802" y="2838066"/>
            <a:ext cx="12310397" cy="170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200"/>
            </a:pPr>
            <a:r>
              <a:t>One orbital period of Saturn Plotted: </a:t>
            </a:r>
          </a:p>
          <a:p>
            <a:pPr>
              <a:defRPr sz="32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29.45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9,151,705</m:t>
                  </m:r>
                </m:oMath>
              </m:oMathPara>
            </a14:m>
          </a:p>
        </p:txBody>
      </p:sp>
      <p:pic>
        <p:nvPicPr>
          <p:cNvPr id="294" name="Three Body System Sun, Mars, Saturn - Position.png" descr="Three Body System Sun, Mars, Saturn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0268" y="5165243"/>
            <a:ext cx="10715644" cy="642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Three Body System Sun, Mars, Saturn - Velocity.png" descr="Three Body System Sun, Mars, Saturn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75140" y="5165243"/>
            <a:ext cx="10715645" cy="64293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N-Body Syst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N-Body System</a:t>
            </a:r>
          </a:p>
        </p:txBody>
      </p:sp>
      <p:sp>
        <p:nvSpPr>
          <p:cNvPr id="298" name="The Final Tes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The Final Test</a:t>
            </a:r>
          </a:p>
        </p:txBody>
      </p:sp>
      <p:sp>
        <p:nvSpPr>
          <p:cNvPr id="299" name="Now that we have verifiable (kinda) solutions from the Three Body system, we can move on to the most complex system for this problem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Now that we have verifiable (kinda) solutions from the Three Body system, we can move on to the most complex system for this problem.</a:t>
            </a:r>
          </a:p>
          <a:p>
            <a:pPr/>
            <a:r>
              <a:t>Orbits of planets are plotted as well as random systems.</a:t>
            </a:r>
          </a:p>
        </p:txBody>
      </p:sp>
      <p:pic>
        <p:nvPicPr>
          <p:cNvPr id="300" name="Newton Gravity Meme.jpg" descr="Newton Gravity Meme.jp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997" t="0" r="1386" b="0"/>
          <a:stretch>
            <a:fillRect/>
          </a:stretch>
        </p:blipFill>
        <p:spPr>
          <a:xfrm>
            <a:off x="12192000" y="1263650"/>
            <a:ext cx="10922001" cy="111887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N-Body System - Sun To Mars"/>
          <p:cNvSpPr txBox="1"/>
          <p:nvPr/>
        </p:nvSpPr>
        <p:spPr>
          <a:xfrm>
            <a:off x="4336541" y="812992"/>
            <a:ext cx="15710917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N-Body System - Sun To Mars</a:t>
            </a:r>
          </a:p>
        </p:txBody>
      </p:sp>
      <p:sp>
        <p:nvSpPr>
          <p:cNvPr id="303" name="One orbital period of Mars is plotted along with all terrestrial planets:"/>
          <p:cNvSpPr txBox="1"/>
          <p:nvPr/>
        </p:nvSpPr>
        <p:spPr>
          <a:xfrm>
            <a:off x="5929122" y="2546999"/>
            <a:ext cx="12525757" cy="170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200"/>
            </a:pPr>
            <a:r>
              <a:t>One orbital period of Mars is plotted along with all terrestrial planets:</a:t>
            </a:r>
          </a:p>
          <a:p>
            <a:pPr algn="ctr">
              <a:defRPr sz="3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687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593,283</m:t>
                  </m:r>
                </m:oMath>
              </m:oMathPara>
            </a14:m>
          </a:p>
        </p:txBody>
      </p:sp>
      <p:pic>
        <p:nvPicPr>
          <p:cNvPr id="304" name="N-Body System - Sun To Mars.png" descr="N-Body System - Sun To Mar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76231" y="4583109"/>
            <a:ext cx="14431538" cy="86589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N-Body System - Solar System"/>
          <p:cNvSpPr txBox="1"/>
          <p:nvPr/>
        </p:nvSpPr>
        <p:spPr>
          <a:xfrm>
            <a:off x="4125201" y="812992"/>
            <a:ext cx="1613359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N-Body System - Solar System</a:t>
            </a:r>
          </a:p>
        </p:txBody>
      </p:sp>
      <p:sp>
        <p:nvSpPr>
          <p:cNvPr id="307" name="One orbital period of Pluto is plotted with the 8 planets:"/>
          <p:cNvSpPr txBox="1"/>
          <p:nvPr/>
        </p:nvSpPr>
        <p:spPr>
          <a:xfrm>
            <a:off x="6070674" y="2546999"/>
            <a:ext cx="12242652" cy="170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200"/>
            </a:pPr>
            <a:r>
              <a:t>One orbital period of Pluto is plotted with the 8 planets:</a:t>
            </a:r>
          </a:p>
          <a:p>
            <a:pPr algn="ctr">
              <a:defRPr sz="3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10,000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249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782,629</m:t>
                  </m:r>
                </m:oMath>
              </m:oMathPara>
            </a14:m>
          </a:p>
        </p:txBody>
      </p:sp>
      <p:pic>
        <p:nvPicPr>
          <p:cNvPr id="308" name="N-Body System - Solar System.png" descr="N-Body System - Solar Syste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34580" y="4583109"/>
            <a:ext cx="14514840" cy="87089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N-Body System - Random System 1"/>
          <p:cNvSpPr txBox="1"/>
          <p:nvPr/>
        </p:nvSpPr>
        <p:spPr>
          <a:xfrm>
            <a:off x="2830944" y="812992"/>
            <a:ext cx="18722112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N-Body System - Random System 1</a:t>
            </a:r>
          </a:p>
        </p:txBody>
      </p:sp>
      <p:pic>
        <p:nvPicPr>
          <p:cNvPr id="311" name="N-Body System - 4 Bodies.png" descr="N-Body System - 4 Bodie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76231" y="4622548"/>
            <a:ext cx="14431538" cy="8658923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Random 4 Body System plotted:"/>
          <p:cNvSpPr txBox="1"/>
          <p:nvPr/>
        </p:nvSpPr>
        <p:spPr>
          <a:xfrm>
            <a:off x="6009311" y="2546999"/>
            <a:ext cx="12365378" cy="170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200"/>
            </a:pPr>
            <a:r>
              <a:t>Random 4 Body System plotted:</a:t>
            </a:r>
          </a:p>
          <a:p>
            <a:pPr algn="ctr">
              <a:defRPr sz="3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594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18.82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1,000,000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N-Body System - Random System 2"/>
          <p:cNvSpPr txBox="1"/>
          <p:nvPr/>
        </p:nvSpPr>
        <p:spPr>
          <a:xfrm>
            <a:off x="2830944" y="812992"/>
            <a:ext cx="18722112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N-Body System - Random System 2</a:t>
            </a:r>
          </a:p>
        </p:txBody>
      </p:sp>
      <p:pic>
        <p:nvPicPr>
          <p:cNvPr id="315" name="N-Body System - 8 Bodies.png" descr="N-Body System - 8 Bodie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76231" y="4570286"/>
            <a:ext cx="14431538" cy="8658924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Random 8 Body System plotted:"/>
          <p:cNvSpPr txBox="1"/>
          <p:nvPr/>
        </p:nvSpPr>
        <p:spPr>
          <a:xfrm>
            <a:off x="6009311" y="2546999"/>
            <a:ext cx="12365378" cy="170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200"/>
            </a:pPr>
            <a:r>
              <a:t>Random 8 Body System plotted:</a:t>
            </a:r>
          </a:p>
          <a:p>
            <a:pPr algn="ctr">
              <a:defRPr sz="3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618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19.58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  <m:sub>
                      <m:r>
                        <a:rPr xmlns:a="http://schemas.openxmlformats.org/drawingml/2006/main" sz="3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1,000,000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hysics Informed Neural Networ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28" sz="11400"/>
            </a:lvl1pPr>
          </a:lstStyle>
          <a:p>
            <a:pPr/>
            <a:r>
              <a:t>Physics Informed Neural Network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Machine Lear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Machine Learning</a:t>
            </a:r>
          </a:p>
        </p:txBody>
      </p:sp>
      <p:sp>
        <p:nvSpPr>
          <p:cNvPr id="321" name="With A PINN"/>
          <p:cNvSpPr txBox="1"/>
          <p:nvPr>
            <p:ph type="body" idx="21"/>
          </p:nvPr>
        </p:nvSpPr>
        <p:spPr>
          <a:xfrm>
            <a:off x="1206500" y="2244812"/>
            <a:ext cx="9779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With A PINN</a:t>
            </a:r>
          </a:p>
        </p:txBody>
      </p:sp>
      <p:sp>
        <p:nvSpPr>
          <p:cNvPr id="322" name="PINNs as a whol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PINNs as a whole</a:t>
            </a:r>
          </a:p>
          <a:p>
            <a:pPr/>
            <a:r>
              <a:t>How it was implemented</a:t>
            </a:r>
          </a:p>
          <a:p>
            <a:pPr/>
            <a:r>
              <a:t>The results</a:t>
            </a:r>
          </a:p>
        </p:txBody>
      </p:sp>
      <p:pic>
        <p:nvPicPr>
          <p:cNvPr id="323" name="Machine Learning Meme.png" descr="Machine Learning Meme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1191" t="0" r="1191" b="0"/>
          <a:stretch>
            <a:fillRect/>
          </a:stretch>
        </p:blipFill>
        <p:spPr>
          <a:xfrm>
            <a:off x="12192000" y="1263650"/>
            <a:ext cx="10922000" cy="111887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INNs"/>
          <p:cNvSpPr txBox="1"/>
          <p:nvPr/>
        </p:nvSpPr>
        <p:spPr>
          <a:xfrm>
            <a:off x="10506925" y="812992"/>
            <a:ext cx="3370150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PINNs</a:t>
            </a:r>
          </a:p>
        </p:txBody>
      </p:sp>
      <p:sp>
        <p:nvSpPr>
          <p:cNvPr id="326" name="At A High Level…"/>
          <p:cNvSpPr txBox="1"/>
          <p:nvPr/>
        </p:nvSpPr>
        <p:spPr>
          <a:xfrm>
            <a:off x="1322025" y="3396339"/>
            <a:ext cx="21739950" cy="692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100"/>
            </a:pPr>
            <a:r>
              <a:t>At A High Level</a:t>
            </a:r>
          </a:p>
          <a:p>
            <a:pPr marL="393700" indent="-393700">
              <a:buSzPct val="123000"/>
              <a:buChar char="•"/>
              <a:defRPr b="1" sz="3100"/>
            </a:pPr>
            <a:r>
              <a:t>What they are: </a:t>
            </a:r>
            <a:r>
              <a:rPr b="0"/>
              <a:t>A neural network trained to satisfy known physics (usually involves differential equations).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What they do: </a:t>
            </a:r>
            <a:r>
              <a:rPr b="0"/>
              <a:t>Typically learn a parameter from data, used to make inferences on system with learned parameter.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Why they are used: </a:t>
            </a:r>
            <a:r>
              <a:rPr b="0"/>
              <a:t>Often useful when the physics for a given system is trusted but measurements or something similar in a model is missing effects.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Benefits in data: </a:t>
            </a:r>
            <a:r>
              <a:rPr b="0"/>
              <a:t>They perform relatively well due to extra supervision in training, they can work with limited, noisier, or sparse data.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Challenges with them: </a:t>
            </a:r>
            <a:r>
              <a:rPr b="0"/>
              <a:t>Data production techniques, training time and refinement, they struggle with discontinuities, chaotic systems, long time horizons, etc.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What The Model Does"/>
          <p:cNvSpPr txBox="1"/>
          <p:nvPr/>
        </p:nvSpPr>
        <p:spPr>
          <a:xfrm>
            <a:off x="6401346" y="812992"/>
            <a:ext cx="11581309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What The Model Does</a:t>
            </a:r>
          </a:p>
        </p:txBody>
      </p:sp>
      <p:sp>
        <p:nvSpPr>
          <p:cNvPr id="329" name="Predicta…"/>
          <p:cNvSpPr txBox="1"/>
          <p:nvPr/>
        </p:nvSpPr>
        <p:spPr>
          <a:xfrm>
            <a:off x="1322025" y="3036666"/>
            <a:ext cx="21739950" cy="8935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100"/>
            </a:pPr>
            <a:r>
              <a:t>Predicta</a:t>
            </a:r>
          </a:p>
          <a:p>
            <a:pPr marL="393700" indent="-393700">
              <a:buSzPct val="123000"/>
              <a:buChar char="•"/>
              <a:defRPr b="1" sz="3100"/>
            </a:pPr>
            <a:r>
              <a:t>Goal: </a:t>
            </a:r>
            <a:r>
              <a:rPr b="0"/>
              <a:t>Train a neural network to make the following prediction: Given the system “right now”, predict the </a:t>
            </a:r>
            <a:r>
              <a:t>acceleration </a:t>
            </a:r>
            <a:r>
              <a:rPr b="0"/>
              <a:t>at this moment.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Why acceleration: </a:t>
            </a:r>
            <a:r>
              <a:rPr b="0"/>
              <a:t>In a Single Body (projectile motion) system, we can use kinematics to predict position and velocity from this learned acceleration.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PINN-ness: </a:t>
            </a:r>
            <a:r>
              <a:rPr b="0"/>
              <a:t>Instead of trying to predict the entire trajectory from raw data, it predicts local dynamics with the learned acceleration of the system.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Main parameters fed: </a:t>
            </a:r>
            <a:r>
              <a:rPr b="0"/>
              <a:t>The model primarily trains on the following: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Initial position and velocity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Initial time, time step, and total time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Body’s mass, radius, initial position, initial velocity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How It Was Implemented"/>
          <p:cNvSpPr txBox="1"/>
          <p:nvPr/>
        </p:nvSpPr>
        <p:spPr>
          <a:xfrm>
            <a:off x="5625884" y="812992"/>
            <a:ext cx="13132233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How It Was Implemented</a:t>
            </a:r>
          </a:p>
        </p:txBody>
      </p:sp>
      <p:sp>
        <p:nvSpPr>
          <p:cNvPr id="332" name="LibTorch MLP…"/>
          <p:cNvSpPr txBox="1"/>
          <p:nvPr/>
        </p:nvSpPr>
        <p:spPr>
          <a:xfrm>
            <a:off x="1322025" y="2681980"/>
            <a:ext cx="21739950" cy="9644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100"/>
            </a:pPr>
            <a:r>
              <a:t>LibTorch MLP</a:t>
            </a:r>
          </a:p>
          <a:p>
            <a:pPr marL="393700" indent="-393700">
              <a:buSzPct val="123000"/>
              <a:buChar char="•"/>
              <a:defRPr b="1" sz="3100"/>
            </a:pPr>
            <a:r>
              <a:t>Language: </a:t>
            </a:r>
            <a:r>
              <a:rPr b="0"/>
              <a:t>Entire data generation pipeline and machine learning model is written in C++.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Data generation: </a:t>
            </a:r>
            <a:r>
              <a:rPr b="0"/>
              <a:t>Random initial conditions were fed to RK4 solver to generate.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The randomly generated data is specific to a body (e.g. Earth, Mars, Jupiter, etc.)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Body specific models: </a:t>
            </a:r>
            <a:r>
              <a:rPr b="0"/>
              <a:t>From the body specific data, a body specific model is trained.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Training: </a:t>
            </a:r>
            <a:r>
              <a:rPr b="0"/>
              <a:t>For each new model, 800 “data points” are created for training, 100 for validation, 100 for testing.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Resuming training does not create new validation or test data points, only 800 for training.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Each session: </a:t>
            </a:r>
            <a:r>
              <a:rPr b="0"/>
              <a:t>One training session consists of 25 epochs: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Fresh models complete one epoch in about 60 seconds.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When resuming training, every 800 added training data points adds about 60 seconds to each epoch.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rediction 1"/>
          <p:cNvSpPr txBox="1"/>
          <p:nvPr/>
        </p:nvSpPr>
        <p:spPr>
          <a:xfrm>
            <a:off x="9020441" y="812992"/>
            <a:ext cx="634311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Prediction 1</a:t>
            </a:r>
          </a:p>
        </p:txBody>
      </p:sp>
      <p:pic>
        <p:nvPicPr>
          <p:cNvPr id="335" name="ML Model Prediction 1 - Position.png" descr="ML Model Prediction 1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9988" y="5246960"/>
            <a:ext cx="11187332" cy="652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ML Model Prediction 1 - Velocity.png" descr="ML Model Prediction 1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06091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  <p:sp>
        <p:nvSpPr>
          <p:cNvPr id="337" name="Projectile launched from Earth, 1 training session"/>
          <p:cNvSpPr txBox="1"/>
          <p:nvPr/>
        </p:nvSpPr>
        <p:spPr>
          <a:xfrm>
            <a:off x="5484418" y="2519453"/>
            <a:ext cx="13415164" cy="18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Projectile launched from Earth, 1 training session</a:t>
            </a:r>
          </a:p>
          <a:p>
            <a:pPr algn="ctr">
              <a:defRPr sz="2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25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7.74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rediction 1"/>
          <p:cNvSpPr txBox="1"/>
          <p:nvPr/>
        </p:nvSpPr>
        <p:spPr>
          <a:xfrm>
            <a:off x="9020441" y="812992"/>
            <a:ext cx="634311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Prediction 1</a:t>
            </a:r>
          </a:p>
        </p:txBody>
      </p:sp>
      <p:pic>
        <p:nvPicPr>
          <p:cNvPr id="340" name="ML Model Prediction 6 - Position.png" descr="ML Model Prediction 6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085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" name="ML Model Prediction 6 - Velocity.png" descr="ML Model Prediction 6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38409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Projectile launched from Earth, 2 training sessions"/>
          <p:cNvSpPr txBox="1"/>
          <p:nvPr/>
        </p:nvSpPr>
        <p:spPr>
          <a:xfrm>
            <a:off x="5332019" y="2519453"/>
            <a:ext cx="13719963" cy="18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Projectile launched from Earth, 2 training sessions</a:t>
            </a:r>
          </a:p>
          <a:p>
            <a:pPr algn="ctr">
              <a:defRPr sz="2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25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7.74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rediction 2"/>
          <p:cNvSpPr txBox="1"/>
          <p:nvPr/>
        </p:nvSpPr>
        <p:spPr>
          <a:xfrm>
            <a:off x="9020441" y="812992"/>
            <a:ext cx="634311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Prediction 2</a:t>
            </a:r>
          </a:p>
        </p:txBody>
      </p:sp>
      <p:pic>
        <p:nvPicPr>
          <p:cNvPr id="345" name="ML Model Prediction 4 - Position.png" descr="ML Model Prediction 4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3829" y="5246960"/>
            <a:ext cx="11187332" cy="652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" name="ML Model Prediction 4 - Velocity.png" descr="ML Model Prediction 4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38409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  <p:sp>
        <p:nvSpPr>
          <p:cNvPr id="347" name="Projectile launched from Earth, 1 training session"/>
          <p:cNvSpPr txBox="1"/>
          <p:nvPr/>
        </p:nvSpPr>
        <p:spPr>
          <a:xfrm>
            <a:off x="5484418" y="2519453"/>
            <a:ext cx="13415164" cy="18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Projectile launched from Earth, 1 training session</a:t>
            </a:r>
          </a:p>
          <a:p>
            <a:pPr algn="ctr">
              <a:defRPr sz="2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10.0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rediction 2"/>
          <p:cNvSpPr txBox="1"/>
          <p:nvPr/>
        </p:nvSpPr>
        <p:spPr>
          <a:xfrm>
            <a:off x="9020441" y="812992"/>
            <a:ext cx="634311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Prediction 2</a:t>
            </a:r>
          </a:p>
        </p:txBody>
      </p:sp>
      <p:pic>
        <p:nvPicPr>
          <p:cNvPr id="350" name="ML Model Prediction 9 - Position.png" descr="ML Model Prediction 9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474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" name="ML Model Prediction 9 - Velocity.png" descr="ML Model Prediction 9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38409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Projectile launched from Earth, 2 training sessions"/>
          <p:cNvSpPr txBox="1"/>
          <p:nvPr/>
        </p:nvSpPr>
        <p:spPr>
          <a:xfrm>
            <a:off x="5332019" y="2519453"/>
            <a:ext cx="13719963" cy="18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Projectile launched from Earth, 2 training sessions</a:t>
            </a:r>
          </a:p>
          <a:p>
            <a:pPr algn="ctr">
              <a:defRPr sz="2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10.0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rediction 3"/>
          <p:cNvSpPr txBox="1"/>
          <p:nvPr/>
        </p:nvSpPr>
        <p:spPr>
          <a:xfrm>
            <a:off x="9020441" y="812992"/>
            <a:ext cx="634311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Prediction 3</a:t>
            </a:r>
          </a:p>
        </p:txBody>
      </p:sp>
      <p:sp>
        <p:nvSpPr>
          <p:cNvPr id="355" name="Projectile launched from Earth, 2 training sessions"/>
          <p:cNvSpPr txBox="1"/>
          <p:nvPr/>
        </p:nvSpPr>
        <p:spPr>
          <a:xfrm>
            <a:off x="5332019" y="2519453"/>
            <a:ext cx="13719963" cy="18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Projectile launched from Earth, 2 training sessions</a:t>
            </a:r>
          </a:p>
          <a:p>
            <a:pPr algn="ctr">
              <a:defRPr sz="2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50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150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5.0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  <p:pic>
        <p:nvPicPr>
          <p:cNvPr id="356" name="ML Model Prediction 11 - Position.png" descr="ML Model Prediction 11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4266" y="5246960"/>
            <a:ext cx="11187332" cy="652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" name="ML Model Prediction 11 - Velocity.png" descr="ML Model Prediction 11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30666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rediction 4"/>
          <p:cNvSpPr txBox="1"/>
          <p:nvPr/>
        </p:nvSpPr>
        <p:spPr>
          <a:xfrm>
            <a:off x="9020441" y="812992"/>
            <a:ext cx="634311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Prediction 4</a:t>
            </a:r>
          </a:p>
        </p:txBody>
      </p:sp>
      <p:sp>
        <p:nvSpPr>
          <p:cNvPr id="360" name="Projectile launched from Earth, 2 training sessions"/>
          <p:cNvSpPr txBox="1"/>
          <p:nvPr/>
        </p:nvSpPr>
        <p:spPr>
          <a:xfrm>
            <a:off x="5332019" y="2519453"/>
            <a:ext cx="13719963" cy="18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Projectile launched from Earth, 2 training sessions</a:t>
            </a:r>
          </a:p>
          <a:p>
            <a:pPr algn="ctr">
              <a:defRPr sz="2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500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5.0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  <p:pic>
        <p:nvPicPr>
          <p:cNvPr id="361" name="ML Model Prediction 12 - Position.png" descr="ML Model Prediction 12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4266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ML Model Prediction 12 - Velocity.png" descr="ML Model Prediction 12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30666" y="5246960"/>
            <a:ext cx="11187333" cy="65259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rediction 5"/>
          <p:cNvSpPr txBox="1"/>
          <p:nvPr/>
        </p:nvSpPr>
        <p:spPr>
          <a:xfrm>
            <a:off x="9020441" y="812992"/>
            <a:ext cx="634311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Prediction 5</a:t>
            </a:r>
          </a:p>
        </p:txBody>
      </p:sp>
      <p:sp>
        <p:nvSpPr>
          <p:cNvPr id="365" name="Projectile launched from Earth, 2 training sessions"/>
          <p:cNvSpPr txBox="1"/>
          <p:nvPr/>
        </p:nvSpPr>
        <p:spPr>
          <a:xfrm>
            <a:off x="5332019" y="2519453"/>
            <a:ext cx="13719963" cy="18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Projectile launched from Earth, 2 training sessions</a:t>
            </a:r>
          </a:p>
          <a:p>
            <a:pPr algn="ctr">
              <a:defRPr sz="2400"/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sub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2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sub>
                  </m:sSub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1000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20.0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0.001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2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  <p:pic>
        <p:nvPicPr>
          <p:cNvPr id="366" name="ML Model Prediction 13 - Position.png" descr="ML Model Prediction 13 - Positi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2666" y="5223933"/>
            <a:ext cx="11266284" cy="657199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7" name="ML Model Prediction 13 - Velocity.png" descr="ML Model Prediction 13 - Velocit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79866" y="5223933"/>
            <a:ext cx="11266284" cy="65719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Conclus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inal Thoughts"/>
          <p:cNvSpPr txBox="1"/>
          <p:nvPr/>
        </p:nvSpPr>
        <p:spPr>
          <a:xfrm>
            <a:off x="8282114" y="812992"/>
            <a:ext cx="7819772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Final Thoughts</a:t>
            </a:r>
          </a:p>
        </p:txBody>
      </p:sp>
      <p:sp>
        <p:nvSpPr>
          <p:cNvPr id="372" name="Numerical Methods…"/>
          <p:cNvSpPr txBox="1"/>
          <p:nvPr/>
        </p:nvSpPr>
        <p:spPr>
          <a:xfrm>
            <a:off x="1322025" y="2658247"/>
            <a:ext cx="21739950" cy="10080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100"/>
            </a:pPr>
            <a:r>
              <a:t>Numerical Methods</a:t>
            </a:r>
          </a:p>
          <a:p>
            <a:pPr marL="393700" indent="-393700">
              <a:buSzPct val="123000"/>
              <a:buChar char="•"/>
              <a:defRPr b="1" sz="3100"/>
            </a:pPr>
            <a:r>
              <a:t>RK4: </a:t>
            </a:r>
            <a:r>
              <a:rPr b="0"/>
              <a:t>The Runge Kutta 4 method produces more stable trajectories / orbits compared to a more primitive method.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Method begins to struggle with higher number of bodies in N-Body System.</a:t>
            </a:r>
            <a:endParaRPr b="0"/>
          </a:p>
          <a:p>
            <a:pPr>
              <a:defRPr b="1" sz="3100"/>
            </a:pPr>
            <a:r>
              <a:t>C++ vs. Python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C++: </a:t>
            </a:r>
            <a:r>
              <a:rPr b="0"/>
              <a:t>Significantly faster, easier to bundle as a single executable, can do almost everything compared to Python.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rPr b="0"/>
              <a:t>C++ has a library called LibTorch for ML training and third party API called matplotlibcpp.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Python: </a:t>
            </a:r>
            <a:r>
              <a:rPr b="0"/>
              <a:t>Very slow, has a harder time creating the same volume of data compared to C++.</a:t>
            </a:r>
            <a:endParaRPr b="0"/>
          </a:p>
          <a:p>
            <a:pPr>
              <a:defRPr b="1" sz="3100"/>
            </a:pPr>
            <a:r>
              <a:t>Machine Learning</a:t>
            </a:r>
          </a:p>
          <a:p>
            <a:pPr marL="393700" indent="-393700">
              <a:buSzPct val="123000"/>
              <a:buChar char="•"/>
              <a:defRPr b="1" sz="3100"/>
            </a:pPr>
            <a:r>
              <a:t>The Good: </a:t>
            </a:r>
            <a:r>
              <a:rPr b="0"/>
              <a:t>Model training is in a good state, program can reliably train and retrain existing models with improvements over sessions.</a:t>
            </a:r>
            <a:endParaRPr b="0"/>
          </a:p>
          <a:p>
            <a:pPr marL="393700" indent="-393700">
              <a:buSzPct val="123000"/>
              <a:buChar char="•"/>
              <a:defRPr b="1" sz="3100"/>
            </a:pPr>
            <a:r>
              <a:t>The “Bad”</a:t>
            </a:r>
            <a:r>
              <a:rPr b="0"/>
              <a:t>: There is currently only a model for the Single Body System, more code is needed for other systems.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Works Cited"/>
          <p:cNvSpPr txBox="1"/>
          <p:nvPr/>
        </p:nvSpPr>
        <p:spPr>
          <a:xfrm>
            <a:off x="8960916" y="812992"/>
            <a:ext cx="6462168" cy="140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b="1" sz="8600"/>
            </a:lvl1pPr>
          </a:lstStyle>
          <a:p>
            <a:pPr/>
            <a:r>
              <a:t>Works Cited</a:t>
            </a:r>
          </a:p>
        </p:txBody>
      </p:sp>
      <p:sp>
        <p:nvSpPr>
          <p:cNvPr id="375" name="Development:…"/>
          <p:cNvSpPr txBox="1"/>
          <p:nvPr/>
        </p:nvSpPr>
        <p:spPr>
          <a:xfrm>
            <a:off x="1322025" y="2705429"/>
            <a:ext cx="21739950" cy="964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93700" indent="-393700">
              <a:buSzPct val="123000"/>
              <a:buChar char="•"/>
              <a:defRPr b="1" sz="3100"/>
            </a:pPr>
            <a:r>
              <a:t>Development:</a:t>
            </a:r>
          </a:p>
          <a:p>
            <a:pPr lvl="1" marL="1003300" indent="-393700">
              <a:buSzPct val="123000"/>
              <a:buChar char="•"/>
              <a:defRPr b="1" sz="3100"/>
            </a:pPr>
            <a:r>
              <a:t>GitHub Username: </a:t>
            </a:r>
            <a:r>
              <a:rPr b="0"/>
              <a:t>QuantumCompiler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t>GitHub Codebase: </a:t>
            </a:r>
            <a:r>
              <a:rPr u="sng">
                <a:solidFill>
                  <a:schemeClr val="accent5"/>
                </a:solidFill>
                <a:hlinkClick r:id="rId2" invalidUrl="" action="" tgtFrame="" tooltip="" history="1" highlightClick="0" endSnd="0"/>
              </a:rPr>
              <a:t>https://github.com/QuantumCompiler/Dynamics-Of-Celestial-Bodies</a:t>
            </a:r>
            <a:r>
              <a:rPr b="0"/>
              <a:t> (Predicta-CLI)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t>AI Companions: </a:t>
            </a:r>
            <a:r>
              <a:rPr b="0"/>
              <a:t>ChatGPT and GitHub Copilot</a:t>
            </a:r>
            <a:endParaRPr b="0"/>
          </a:p>
          <a:p>
            <a:pPr lvl="1" marL="1003300" indent="-393700">
              <a:buSzPct val="123000"/>
              <a:buChar char="•"/>
              <a:defRPr b="1" sz="3100"/>
            </a:pPr>
            <a:r>
              <a:t>Projectile Motion PINN: </a:t>
            </a:r>
            <a:r>
              <a:rPr u="sng">
                <a:solidFill>
                  <a:schemeClr val="accent5"/>
                </a:solidFill>
                <a:hlinkClick r:id="rId3" invalidUrl="" action="" tgtFrame="" tooltip="" history="1" highlightClick="0" endSnd="0"/>
              </a:rPr>
              <a:t>https://github.com/maciejczarnacki/PINNs-projectile-motion</a:t>
            </a:r>
            <a:endParaRPr>
              <a:solidFill>
                <a:schemeClr val="accent5"/>
              </a:solidFill>
            </a:endParaRPr>
          </a:p>
          <a:p>
            <a:pPr marL="393700" indent="-393700">
              <a:buSzPct val="123000"/>
              <a:buChar char="•"/>
              <a:defRPr b="1" sz="3100"/>
            </a:pPr>
            <a:r>
              <a:t>Neat Stuff:</a:t>
            </a:r>
          </a:p>
          <a:p>
            <a:pPr lvl="1" marL="1003300" indent="-393700">
              <a:buSzPct val="123000"/>
              <a:buChar char="•"/>
              <a:defRPr b="1" sz="3100"/>
            </a:pPr>
            <a:r>
              <a:t>Kaggle: </a:t>
            </a:r>
            <a:r>
              <a:rPr u="sng">
                <a:solidFill>
                  <a:schemeClr val="accent5"/>
                </a:solidFill>
                <a:hlinkClick r:id="rId4" invalidUrl="" action="" tgtFrame="" tooltip="" history="1" highlightClick="0" endSnd="0"/>
              </a:rPr>
              <a:t>https://www.kaggle.com/</a:t>
            </a:r>
          </a:p>
          <a:p>
            <a:pPr lvl="1" marL="1003300" indent="-393700">
              <a:buSzPct val="123000"/>
              <a:buChar char="•"/>
              <a:defRPr b="1" sz="3100"/>
            </a:pPr>
            <a:r>
              <a:t>PINN Paper: </a:t>
            </a:r>
            <a:r>
              <a:rPr u="sng">
                <a:solidFill>
                  <a:schemeClr val="accent5"/>
                </a:solidFill>
                <a:hlinkClick r:id="rId5" invalidUrl="" action="" tgtFrame="" tooltip="" history="1" highlightClick="0" endSnd="0"/>
              </a:rPr>
              <a:t>https://www.sciencedirect.com/science/article/abs/pii/S0021999118307125</a:t>
            </a:r>
          </a:p>
          <a:p>
            <a:pPr marL="393700" indent="-393700">
              <a:buSzPct val="123000"/>
              <a:buChar char="•"/>
              <a:defRPr b="1" sz="3100"/>
            </a:pPr>
            <a:r>
              <a:t>Professional:</a:t>
            </a:r>
          </a:p>
          <a:p>
            <a:pPr lvl="1" marL="1003300" indent="-393700">
              <a:buSzPct val="123000"/>
              <a:buChar char="•"/>
              <a:defRPr b="1" sz="3100"/>
            </a:pPr>
            <a:r>
              <a:t>LinkedIn: Taylor Larrechea - </a:t>
            </a:r>
            <a:r>
              <a:rPr>
                <a:solidFill>
                  <a:schemeClr val="accent5"/>
                </a:solidFill>
              </a:rPr>
              <a:t>https://www.linkedin.com/in/tlarrechea/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Ques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2_DynamicDark">
  <a:themeElements>
    <a:clrScheme name="32_DynamicDark">
      <a:dk1>
        <a:srgbClr val="BE00FF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2_DynamicDark">
  <a:themeElements>
    <a:clrScheme name="32_DynamicDar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